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BA19"/>
    <a:srgbClr val="0237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0"/>
    <p:restoredTop sz="94675"/>
  </p:normalViewPr>
  <p:slideViewPr>
    <p:cSldViewPr snapToGrid="0">
      <p:cViewPr>
        <p:scale>
          <a:sx n="165" d="100"/>
          <a:sy n="165" d="100"/>
        </p:scale>
        <p:origin x="-912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64B5E-2FA5-6F2D-8FBA-D3D1837D3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E6FFBD-E8C6-492D-C614-6B661701F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8C4432-488E-C564-6554-982CEA88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6ACF6-D047-88EA-03DA-DA8AB276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B7D539-1BCD-29CA-BE24-B2D656AC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45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98DD2-3FF0-C397-DBEA-2866D9A5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09D024-7F2D-CB46-C59F-08F125D87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75EC74-DE0A-E4F6-197F-8DCD2F34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5499A5-81D1-7F4C-ED4B-94913B1B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95A7C3-FA50-8D5E-7531-56DB39C3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172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DF1C1-1AFC-7DA5-E131-8C944A73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6B7076-9CA2-9D96-A6D7-9B19AE84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CF6C8B-F4EA-736F-05CF-5DDAFDE6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065C18-BE40-689C-B892-3800BF11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AC9EC6-7D73-3DB6-37C7-91912415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605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4390BA-CA35-0FF1-32E4-0C552F92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D61691-8029-ECFE-791C-BA79622FA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8419DB-F93B-CBC8-8FD9-E35262581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B0F1E4-4CF1-8E96-0F91-18CE48F1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98C4B1-F429-7C79-DEC2-47A2D726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75F1C0-F9AB-68BA-AADB-06265567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3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122D4-F1C5-D926-7F88-AF27FF50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91CF67-0129-58BC-C2C3-F515AF78D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84EAFB-648B-8DA2-FF99-5172A2675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86FC6D-6088-515A-AB96-B5735EC23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184956-C1E9-2333-F009-C0623C7E3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79FFC2-6E8C-2E48-7BEF-1D3D5B678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6B8F4F-F80E-1150-828D-F72220A5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FCC676-B942-7BD2-B2AF-84544600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08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55BBE-5216-A834-F07A-7CEC0BC9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1DDC67E-CE91-67AF-B6E6-2C458F2F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FDAC83-2F32-5E0C-4C5F-8C95B8B2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910CCD-402E-5738-A182-4D253330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418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5294DC-25B8-462E-F08F-5FB71B2D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1029E0-2CA6-D47D-2C8F-3EC1E691A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0E221F-819C-0015-C90E-7815ECE3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771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A6FC3-C6CD-6D26-C696-995D0103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6849FA-D9F0-06FF-2FE0-A67C2F91C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D729DE-EEFD-6470-E306-BF3A2FD18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35EB86-B539-FF10-FA63-7DFFD4BC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3E20F3-FCD5-DD93-8857-92DF3601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085709-4079-9765-27D2-01310303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816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052C7-80DB-C9DC-AB3E-C8CF37CF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74EC055-755A-EDF6-429C-BFD765136E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EAFCD1-24CC-F65A-6013-C7F999607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1AECF3-351E-9A31-3000-E3010076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8D2D57-FCCE-4E82-B9FB-6F474CCD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02BA70-A14F-776A-5D55-E1D82C7F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65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66A78-62FB-AD7A-73B6-BD7F54FA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66167F-1C9C-6136-B342-B17D1364F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0086DE-C68C-961A-D6BE-2035A1A4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820F22-9594-1452-4429-A0ED82F1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EA27BD-0AF1-2ED0-FC5F-EF3A2A50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96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36DBFF-1EB1-01EF-83A3-A244E8389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776C95-2F57-4285-622D-99B49EEF8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4109C0-C3FA-6CD1-B5FA-72D95F63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087C7-4984-84AB-47B8-43451466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EA6EEC-CD78-2BC6-E94B-4A335600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608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B44FAC8-82F5-4FE2-F254-6F9438B53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C38501-5E61-653C-3DF3-439DC3FBD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769D9C-79E7-E0C0-9E40-CAFD4BE39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048A0-0F96-E74C-B06F-886D80A00D49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CE3303-B040-26CB-09DA-D4CE79582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A7A259-DA41-AB07-0F1E-0A6CE44F1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EB9A5-5C43-554A-B903-D2B99C4618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92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6F875EED-F6F7-840C-23CD-7AA761CCD863}"/>
              </a:ext>
            </a:extLst>
          </p:cNvPr>
          <p:cNvSpPr txBox="1"/>
          <p:nvPr/>
        </p:nvSpPr>
        <p:spPr>
          <a:xfrm>
            <a:off x="1168316" y="792501"/>
            <a:ext cx="3759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1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One</a:t>
            </a:r>
            <a:r>
              <a:rPr lang="de-DE" sz="11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remote </a:t>
            </a:r>
            <a:r>
              <a:rPr lang="de-DE" sz="11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motor</a:t>
            </a:r>
            <a:r>
              <a:rPr lang="de-DE" sz="11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11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move</a:t>
            </a:r>
            <a:r>
              <a:rPr lang="de-DE" sz="11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(</a:t>
            </a:r>
            <a:r>
              <a:rPr lang="de-DE" sz="11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serial</a:t>
            </a:r>
            <a:r>
              <a:rPr lang="de-DE" sz="11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→ CANopen → </a:t>
            </a:r>
            <a:r>
              <a:rPr lang="de-DE" sz="11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serial</a:t>
            </a:r>
            <a:r>
              <a:rPr lang="de-DE" sz="11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61A14E1-AFFB-5733-B3D0-18803154859D}"/>
              </a:ext>
            </a:extLst>
          </p:cNvPr>
          <p:cNvSpPr txBox="1"/>
          <p:nvPr/>
        </p:nvSpPr>
        <p:spPr>
          <a:xfrm>
            <a:off x="1563631" y="4859250"/>
            <a:ext cx="72234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Master = HAT+ ESP32 (UC2_canopen_master).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stepperid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 (X)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is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routed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to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11, OD sub-index stepperid+1 = 2. A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local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axis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skips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8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steps</a:t>
            </a:r>
            <a:r>
              <a:rPr lang="de-DE" sz="8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3–4 and 6–7.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CBFA89ED-62D2-18CC-6029-AE546E372851}"/>
              </a:ext>
            </a:extLst>
          </p:cNvPr>
          <p:cNvSpPr/>
          <p:nvPr/>
        </p:nvSpPr>
        <p:spPr>
          <a:xfrm>
            <a:off x="1248127" y="1366692"/>
            <a:ext cx="1118701" cy="284988"/>
          </a:xfrm>
          <a:prstGeom prst="roundRect">
            <a:avLst>
              <a:gd name="adj" fmla="val 0"/>
            </a:avLst>
          </a:prstGeom>
          <a:solidFill>
            <a:srgbClr val="023773"/>
          </a:solidFill>
          <a:ln w="6477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4E7ACBD-DD2F-D3E4-2648-2E5CBE81C68B}"/>
              </a:ext>
            </a:extLst>
          </p:cNvPr>
          <p:cNvSpPr txBox="1"/>
          <p:nvPr/>
        </p:nvSpPr>
        <p:spPr>
          <a:xfrm>
            <a:off x="1395089" y="1404989"/>
            <a:ext cx="8691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800" b="1" spc="0" baseline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Host (uc2rest)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A4536E94-CF17-8B6F-F286-F86C46AE3BAC}"/>
              </a:ext>
            </a:extLst>
          </p:cNvPr>
          <p:cNvSpPr/>
          <p:nvPr/>
        </p:nvSpPr>
        <p:spPr>
          <a:xfrm>
            <a:off x="3838928" y="1366692"/>
            <a:ext cx="1036320" cy="2849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477" cap="flat">
            <a:solidFill>
              <a:srgbClr val="1F2328"/>
            </a:solidFill>
            <a:prstDash val="solid"/>
            <a:miter/>
          </a:ln>
        </p:spPr>
        <p:txBody>
          <a:bodyPr/>
          <a:lstStyle/>
          <a:p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69595FB-41EC-DC96-BEC0-A4CFBAF4D0A0}"/>
              </a:ext>
            </a:extLst>
          </p:cNvPr>
          <p:cNvSpPr txBox="1"/>
          <p:nvPr/>
        </p:nvSpPr>
        <p:spPr>
          <a:xfrm>
            <a:off x="3998244" y="1359650"/>
            <a:ext cx="873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8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ESP32 master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49AE39F-29D9-F5A6-5239-02A3AECF2708}"/>
              </a:ext>
            </a:extLst>
          </p:cNvPr>
          <p:cNvSpPr txBox="1"/>
          <p:nvPr/>
        </p:nvSpPr>
        <p:spPr>
          <a:xfrm>
            <a:off x="3904331" y="1473766"/>
            <a:ext cx="1075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 |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DeviceRouter</a:t>
            </a:r>
            <a:endParaRPr lang="de-DE" sz="700" spc="0" baseline="0" dirty="0">
              <a:ln/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2AD779B1-FF35-8D69-4478-BD115277CFD0}"/>
              </a:ext>
            </a:extLst>
          </p:cNvPr>
          <p:cNvSpPr/>
          <p:nvPr/>
        </p:nvSpPr>
        <p:spPr>
          <a:xfrm>
            <a:off x="7255248" y="1366692"/>
            <a:ext cx="1160304" cy="284988"/>
          </a:xfrm>
          <a:prstGeom prst="roundRect">
            <a:avLst>
              <a:gd name="adj" fmla="val 0"/>
            </a:avLst>
          </a:prstGeom>
          <a:solidFill>
            <a:srgbClr val="85BA19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B3A6E7B-FE50-CDCE-413F-218DF1FBE1A1}"/>
              </a:ext>
            </a:extLst>
          </p:cNvPr>
          <p:cNvSpPr txBox="1"/>
          <p:nvPr/>
        </p:nvSpPr>
        <p:spPr>
          <a:xfrm>
            <a:off x="7351351" y="1359650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800" b="1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Motor </a:t>
            </a:r>
            <a:r>
              <a:rPr lang="de-DE" sz="800" b="1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satellite</a:t>
            </a:r>
            <a:r>
              <a:rPr lang="de-DE" sz="800" b="1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X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45251C1-A87A-7155-8833-ABD01CD5C43B}"/>
              </a:ext>
            </a:extLst>
          </p:cNvPr>
          <p:cNvSpPr txBox="1"/>
          <p:nvPr/>
        </p:nvSpPr>
        <p:spPr>
          <a:xfrm>
            <a:off x="7547308" y="1473766"/>
            <a:ext cx="5084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 11</a:t>
            </a: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CCCB7E39-57FA-4202-0FEF-59B78AE11D6C}"/>
              </a:ext>
            </a:extLst>
          </p:cNvPr>
          <p:cNvSpPr/>
          <p:nvPr/>
        </p:nvSpPr>
        <p:spPr>
          <a:xfrm>
            <a:off x="1766288" y="1651680"/>
            <a:ext cx="6477" cy="2979420"/>
          </a:xfrm>
          <a:custGeom>
            <a:avLst/>
            <a:gdLst>
              <a:gd name="csX0" fmla="*/ 0 w 6477"/>
              <a:gd name="csY0" fmla="*/ 0 h 2979420"/>
              <a:gd name="csX1" fmla="*/ 0 w 6477"/>
              <a:gd name="csY1" fmla="*/ 2979420 h 2979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2979420">
                <a:moveTo>
                  <a:pt x="0" y="0"/>
                </a:moveTo>
                <a:lnTo>
                  <a:pt x="0" y="2979420"/>
                </a:lnTo>
              </a:path>
            </a:pathLst>
          </a:custGeom>
          <a:ln w="6477" cap="flat">
            <a:solidFill>
              <a:srgbClr val="8C959F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82BD86D4-3BAF-383F-E64A-6A3A22016FDD}"/>
              </a:ext>
            </a:extLst>
          </p:cNvPr>
          <p:cNvSpPr/>
          <p:nvPr/>
        </p:nvSpPr>
        <p:spPr>
          <a:xfrm>
            <a:off x="4657646" y="1670232"/>
            <a:ext cx="6477" cy="2979420"/>
          </a:xfrm>
          <a:custGeom>
            <a:avLst/>
            <a:gdLst>
              <a:gd name="csX0" fmla="*/ 0 w 6477"/>
              <a:gd name="csY0" fmla="*/ 0 h 2979420"/>
              <a:gd name="csX1" fmla="*/ 0 w 6477"/>
              <a:gd name="csY1" fmla="*/ 2979420 h 2979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2979420">
                <a:moveTo>
                  <a:pt x="0" y="0"/>
                </a:moveTo>
                <a:lnTo>
                  <a:pt x="0" y="2979420"/>
                </a:lnTo>
              </a:path>
            </a:pathLst>
          </a:custGeom>
          <a:ln w="6477" cap="flat">
            <a:solidFill>
              <a:srgbClr val="8C959F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C19B1B27-D675-31C1-0F9D-09AA21749898}"/>
              </a:ext>
            </a:extLst>
          </p:cNvPr>
          <p:cNvSpPr/>
          <p:nvPr/>
        </p:nvSpPr>
        <p:spPr>
          <a:xfrm>
            <a:off x="7773408" y="1651680"/>
            <a:ext cx="6477" cy="2979420"/>
          </a:xfrm>
          <a:custGeom>
            <a:avLst/>
            <a:gdLst>
              <a:gd name="csX0" fmla="*/ 0 w 6477"/>
              <a:gd name="csY0" fmla="*/ 0 h 2979420"/>
              <a:gd name="csX1" fmla="*/ 0 w 6477"/>
              <a:gd name="csY1" fmla="*/ 2979420 h 2979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2979420">
                <a:moveTo>
                  <a:pt x="0" y="0"/>
                </a:moveTo>
                <a:lnTo>
                  <a:pt x="0" y="2979420"/>
                </a:lnTo>
              </a:path>
            </a:pathLst>
          </a:custGeom>
          <a:ln w="6477" cap="flat">
            <a:solidFill>
              <a:srgbClr val="8C959F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F7D5152-EBB1-9A24-A901-C5EADCC1BFCB}"/>
              </a:ext>
            </a:extLst>
          </p:cNvPr>
          <p:cNvSpPr txBox="1"/>
          <p:nvPr/>
        </p:nvSpPr>
        <p:spPr>
          <a:xfrm>
            <a:off x="1752572" y="1716397"/>
            <a:ext cx="28071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 /</a:t>
            </a:r>
            <a:r>
              <a:rPr lang="de-DE" sz="700" b="1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motor_act</a:t>
            </a:r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</a:t>
            </a:r>
            <a:r>
              <a:rPr lang="de-DE" sz="700" b="1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stepperid</a:t>
            </a:r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 | </a:t>
            </a:r>
            <a:r>
              <a:rPr lang="de-DE" sz="700" b="1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position</a:t>
            </a:r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1000 | </a:t>
            </a:r>
            <a:r>
              <a:rPr lang="de-DE" sz="700" b="1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speed</a:t>
            </a:r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20000 | </a:t>
            </a:r>
            <a:r>
              <a:rPr lang="de-DE" sz="700" b="1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qid</a:t>
            </a:r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5</a:t>
            </a: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D0440E89-DCBC-9076-2E15-01F55EC43507}"/>
              </a:ext>
            </a:extLst>
          </p:cNvPr>
          <p:cNvSpPr/>
          <p:nvPr/>
        </p:nvSpPr>
        <p:spPr>
          <a:xfrm>
            <a:off x="4729218" y="1988484"/>
            <a:ext cx="2620858" cy="259080"/>
          </a:xfrm>
          <a:prstGeom prst="roundRect">
            <a:avLst>
              <a:gd name="adj" fmla="val 0"/>
            </a:avLst>
          </a:prstGeom>
          <a:solidFill>
            <a:srgbClr val="023773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CC871E9-4D97-A354-DA84-8BE2E4620F7E}"/>
              </a:ext>
            </a:extLst>
          </p:cNvPr>
          <p:cNvSpPr txBox="1"/>
          <p:nvPr/>
        </p:nvSpPr>
        <p:spPr>
          <a:xfrm>
            <a:off x="4702548" y="1969000"/>
            <a:ext cx="26869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2 </a:t>
            </a:r>
            <a:r>
              <a:rPr lang="de-DE" sz="700" b="1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RoutingTable</a:t>
            </a:r>
            <a:r>
              <a:rPr lang="de-DE" sz="700" b="1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: MOTOR 1 → REMOTE, </a:t>
            </a:r>
            <a:r>
              <a:rPr lang="de-DE" sz="700" b="1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700" b="1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11, </a:t>
            </a:r>
            <a:r>
              <a:rPr lang="de-DE" sz="700" b="1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subAxis</a:t>
            </a:r>
            <a:r>
              <a:rPr lang="de-DE" sz="700" b="1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2003D1B-5C80-29ED-639C-01DE1CE25AC9}"/>
              </a:ext>
            </a:extLst>
          </p:cNvPr>
          <p:cNvSpPr txBox="1"/>
          <p:nvPr/>
        </p:nvSpPr>
        <p:spPr>
          <a:xfrm>
            <a:off x="4702548" y="2076127"/>
            <a:ext cx="20409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(LOCAL </a:t>
            </a:r>
            <a:r>
              <a:rPr lang="de-DE" sz="700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would</a:t>
            </a:r>
            <a:r>
              <a:rPr lang="de-DE" sz="700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start</a:t>
            </a:r>
            <a:r>
              <a:rPr lang="de-DE" sz="700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FastAccelStepper</a:t>
            </a:r>
            <a:r>
              <a:rPr lang="de-DE" sz="700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directly</a:t>
            </a:r>
            <a:r>
              <a:rPr lang="de-DE" sz="700" spc="0" baseline="0" dirty="0">
                <a:ln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F5D0E75-3F3B-3B97-001E-823D58D8CEB6}"/>
              </a:ext>
            </a:extLst>
          </p:cNvPr>
          <p:cNvSpPr txBox="1"/>
          <p:nvPr/>
        </p:nvSpPr>
        <p:spPr>
          <a:xfrm>
            <a:off x="4650732" y="2273419"/>
            <a:ext cx="29354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3 expedited SDO writes to 0x60B, each acknowledged on 0x58B: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AAA0126-6BC9-E9BB-DC2C-94249189D021}"/>
              </a:ext>
            </a:extLst>
          </p:cNvPr>
          <p:cNvSpPr txBox="1"/>
          <p:nvPr/>
        </p:nvSpPr>
        <p:spPr>
          <a:xfrm>
            <a:off x="4767318" y="2391784"/>
            <a:ext cx="24016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0x2000:02 </a:t>
            </a:r>
            <a:r>
              <a:rPr lang="de-DE" sz="7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target</a:t>
            </a:r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 | 0x2002:02 </a:t>
            </a:r>
            <a:r>
              <a:rPr lang="de-DE" sz="7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speed</a:t>
            </a:r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 | [0x2006:02 </a:t>
            </a:r>
            <a:r>
              <a:rPr lang="de-DE" sz="7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accel</a:t>
            </a:r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]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4FDF962-9AF8-A3E5-F284-C2615A8D320E}"/>
              </a:ext>
            </a:extLst>
          </p:cNvPr>
          <p:cNvSpPr txBox="1"/>
          <p:nvPr/>
        </p:nvSpPr>
        <p:spPr>
          <a:xfrm>
            <a:off x="4767318" y="2488939"/>
            <a:ext cx="20040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0x2007:02 </a:t>
            </a:r>
            <a:r>
              <a:rPr lang="de-DE" sz="7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is_absolute</a:t>
            </a:r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 | 0x200B:02 </a:t>
            </a:r>
            <a:r>
              <a:rPr lang="de-DE" sz="7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Menlo"/>
                <a:rtl val="0"/>
              </a:rPr>
              <a:t>is_forever</a:t>
            </a:r>
            <a:endParaRPr lang="de-DE" sz="700" spc="0" baseline="0" dirty="0">
              <a:ln/>
              <a:solidFill>
                <a:srgbClr val="1F232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  <a:sym typeface="Menlo"/>
              <a:rtl val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C106F41-EAA3-4D2C-5BA0-29D23195E5D0}"/>
              </a:ext>
            </a:extLst>
          </p:cNvPr>
          <p:cNvSpPr txBox="1"/>
          <p:nvPr/>
        </p:nvSpPr>
        <p:spPr>
          <a:xfrm>
            <a:off x="4650732" y="2700901"/>
            <a:ext cx="29819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4 SDO 0x2003:00 = 0x02 (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bit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=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start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slot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,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bit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n+4 = stop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slot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)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CB7D3A2-6A49-298F-156E-C4FA9C8440F1}"/>
              </a:ext>
            </a:extLst>
          </p:cNvPr>
          <p:cNvSpPr txBox="1"/>
          <p:nvPr/>
        </p:nvSpPr>
        <p:spPr>
          <a:xfrm>
            <a:off x="1752572" y="2934073"/>
            <a:ext cx="25458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5 ack: {"steppers":[{"stepperid":1,"isDone":0}],"qid":5}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52A5B24-E999-841E-F7CF-CA26C6ED67E2}"/>
              </a:ext>
            </a:extLst>
          </p:cNvPr>
          <p:cNvSpPr txBox="1"/>
          <p:nvPr/>
        </p:nvSpPr>
        <p:spPr>
          <a:xfrm>
            <a:off x="4650732" y="3232015"/>
            <a:ext cx="30203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6 TPDO1 0x18B: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position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i32 |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status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(bit0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running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= 1) | </a:t>
            </a:r>
            <a:r>
              <a:rPr lang="de-DE" sz="700" b="1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homing</a:t>
            </a:r>
            <a:r>
              <a:rPr lang="de-DE" sz="700" b="1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u8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2D2F115-9657-7D85-E468-113C62FC5CF0}"/>
              </a:ext>
            </a:extLst>
          </p:cNvPr>
          <p:cNvSpPr txBox="1"/>
          <p:nvPr/>
        </p:nvSpPr>
        <p:spPr>
          <a:xfrm>
            <a:off x="4767318" y="3339142"/>
            <a:ext cx="19816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on change (≥ 10 ms apart) and every 500 ms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B4C406A-D433-2835-FA16-033BB87EFBB6}"/>
              </a:ext>
            </a:extLst>
          </p:cNvPr>
          <p:cNvSpPr txBox="1"/>
          <p:nvPr/>
        </p:nvSpPr>
        <p:spPr>
          <a:xfrm>
            <a:off x="4650732" y="3594727"/>
            <a:ext cx="2659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7 TPDO1 0x18B: running = 0 → master sees the stop edge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261B939-0DEC-9F66-FB73-69E161646760}"/>
              </a:ext>
            </a:extLst>
          </p:cNvPr>
          <p:cNvSpPr txBox="1"/>
          <p:nvPr/>
        </p:nvSpPr>
        <p:spPr>
          <a:xfrm>
            <a:off x="1752572" y="3892669"/>
            <a:ext cx="30315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8 {"steppers":[{"stepperid":1,"position":1000,"isDone":1}],"qid":5}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A158EC4-2B1A-79B2-707F-3BED138B8294}"/>
              </a:ext>
            </a:extLst>
          </p:cNvPr>
          <p:cNvSpPr txBox="1"/>
          <p:nvPr/>
        </p:nvSpPr>
        <p:spPr>
          <a:xfrm>
            <a:off x="1752572" y="4151749"/>
            <a:ext cx="28424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9 {"qid":5,"state":"done"} (QidRegistry, all axes of qid 5 done)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5FFFEF5-C542-9068-BA19-377FA360E85D}"/>
              </a:ext>
            </a:extLst>
          </p:cNvPr>
          <p:cNvSpPr txBox="1"/>
          <p:nvPr/>
        </p:nvSpPr>
        <p:spPr>
          <a:xfrm>
            <a:off x="4832088" y="4116382"/>
            <a:ext cx="23839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Feedback for steps 6–7 arrives only from nodes 10–13: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8752C56-8D3C-65CB-9629-5A3C91A4EF29}"/>
              </a:ext>
            </a:extLst>
          </p:cNvPr>
          <p:cNvSpPr txBox="1"/>
          <p:nvPr/>
        </p:nvSpPr>
        <p:spPr>
          <a:xfrm>
            <a:off x="4832088" y="4220014"/>
            <a:ext cx="25731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the master's RPDOs listen on fixed COB-IDs 0x18A–0x18D.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7BEE524-8E18-7916-65F2-6FF17A54A9A3}"/>
              </a:ext>
            </a:extLst>
          </p:cNvPr>
          <p:cNvSpPr txBox="1"/>
          <p:nvPr/>
        </p:nvSpPr>
        <p:spPr>
          <a:xfrm>
            <a:off x="4832088" y="4375462"/>
            <a:ext cx="30620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With uc2canopen (path B) the Pi sends 3–4 itself and reads 6–7 directly.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2AE53908-6055-4892-E587-C9F26C2ECAB8}"/>
              </a:ext>
            </a:extLst>
          </p:cNvPr>
          <p:cNvCxnSpPr/>
          <p:nvPr/>
        </p:nvCxnSpPr>
        <p:spPr>
          <a:xfrm>
            <a:off x="1752572" y="1969000"/>
            <a:ext cx="2865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7389FC4C-028E-62F4-134A-A8565D918986}"/>
              </a:ext>
            </a:extLst>
          </p:cNvPr>
          <p:cNvCxnSpPr>
            <a:cxnSpLocks/>
          </p:cNvCxnSpPr>
          <p:nvPr/>
        </p:nvCxnSpPr>
        <p:spPr>
          <a:xfrm flipH="1">
            <a:off x="1772765" y="3134735"/>
            <a:ext cx="2865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6DE3B6FF-6F24-972E-ABD5-B706B6116204}"/>
              </a:ext>
            </a:extLst>
          </p:cNvPr>
          <p:cNvCxnSpPr>
            <a:cxnSpLocks/>
          </p:cNvCxnSpPr>
          <p:nvPr/>
        </p:nvCxnSpPr>
        <p:spPr>
          <a:xfrm flipH="1">
            <a:off x="1772765" y="4107067"/>
            <a:ext cx="2865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6376B6F-2C9B-7728-FD7F-8F8C15B4D361}"/>
              </a:ext>
            </a:extLst>
          </p:cNvPr>
          <p:cNvCxnSpPr>
            <a:cxnSpLocks/>
          </p:cNvCxnSpPr>
          <p:nvPr/>
        </p:nvCxnSpPr>
        <p:spPr>
          <a:xfrm flipH="1">
            <a:off x="1766288" y="4395386"/>
            <a:ext cx="2865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3CAC2825-9BC7-9350-1501-B95F613BEA39}"/>
              </a:ext>
            </a:extLst>
          </p:cNvPr>
          <p:cNvCxnSpPr/>
          <p:nvPr/>
        </p:nvCxnSpPr>
        <p:spPr>
          <a:xfrm>
            <a:off x="4805986" y="2700901"/>
            <a:ext cx="2865125" cy="0"/>
          </a:xfrm>
          <a:prstGeom prst="straightConnector1">
            <a:avLst/>
          </a:prstGeom>
          <a:ln>
            <a:solidFill>
              <a:srgbClr val="85BA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C329DFE-4E2C-8420-6A75-7931EA0D907B}"/>
              </a:ext>
            </a:extLst>
          </p:cNvPr>
          <p:cNvCxnSpPr/>
          <p:nvPr/>
        </p:nvCxnSpPr>
        <p:spPr>
          <a:xfrm>
            <a:off x="4832088" y="2944282"/>
            <a:ext cx="2865125" cy="0"/>
          </a:xfrm>
          <a:prstGeom prst="straightConnector1">
            <a:avLst/>
          </a:prstGeom>
          <a:ln>
            <a:solidFill>
              <a:srgbClr val="85BA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3651C5D0-EDFF-AC59-8FE7-341FC9A1C901}"/>
              </a:ext>
            </a:extLst>
          </p:cNvPr>
          <p:cNvCxnSpPr>
            <a:cxnSpLocks/>
          </p:cNvCxnSpPr>
          <p:nvPr/>
        </p:nvCxnSpPr>
        <p:spPr>
          <a:xfrm flipH="1">
            <a:off x="4702548" y="3539197"/>
            <a:ext cx="2865125" cy="0"/>
          </a:xfrm>
          <a:prstGeom prst="straightConnector1">
            <a:avLst/>
          </a:prstGeom>
          <a:ln>
            <a:solidFill>
              <a:srgbClr val="85BA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DADA2497-E522-4730-4250-5A236B5A8AC3}"/>
              </a:ext>
            </a:extLst>
          </p:cNvPr>
          <p:cNvCxnSpPr>
            <a:cxnSpLocks/>
          </p:cNvCxnSpPr>
          <p:nvPr/>
        </p:nvCxnSpPr>
        <p:spPr>
          <a:xfrm flipH="1">
            <a:off x="4702548" y="3798043"/>
            <a:ext cx="2865125" cy="0"/>
          </a:xfrm>
          <a:prstGeom prst="straightConnector1">
            <a:avLst/>
          </a:prstGeom>
          <a:ln>
            <a:solidFill>
              <a:srgbClr val="85BA1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Grafik 60" descr="openUC2 - The optical toolbox">
            <a:extLst>
              <a:ext uri="{FF2B5EF4-FFF2-40B4-BE49-F238E27FC236}">
                <a16:creationId xmlns:a16="http://schemas.microsoft.com/office/drawing/2014/main" id="{854558D6-9845-B11D-500A-0A4A77EAB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75" y="475502"/>
            <a:ext cx="1541071" cy="53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22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openUC2 - The optical toolbox">
            <a:extLst>
              <a:ext uri="{FF2B5EF4-FFF2-40B4-BE49-F238E27FC236}">
                <a16:creationId xmlns:a16="http://schemas.microsoft.com/office/drawing/2014/main" id="{C6F87550-E6BE-9282-58B9-17351DF4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315" y="737712"/>
            <a:ext cx="1541071" cy="53890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4C4D410-CAFA-2EDB-86FA-9ADD633B8F71}"/>
              </a:ext>
            </a:extLst>
          </p:cNvPr>
          <p:cNvSpPr txBox="1"/>
          <p:nvPr/>
        </p:nvSpPr>
        <p:spPr>
          <a:xfrm>
            <a:off x="972278" y="1125311"/>
            <a:ext cx="16626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05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UC2 </a:t>
            </a:r>
            <a:r>
              <a:rPr lang="de-DE" sz="105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control</a:t>
            </a:r>
            <a:r>
              <a:rPr lang="de-DE" sz="105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105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topologies</a:t>
            </a:r>
            <a:endParaRPr lang="de-DE" sz="1050" b="1" spc="0" baseline="0" dirty="0">
              <a:ln/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FAA033A-4293-2BD9-6D1B-3FAE56055460}"/>
              </a:ext>
            </a:extLst>
          </p:cNvPr>
          <p:cNvSpPr txBox="1"/>
          <p:nvPr/>
        </p:nvSpPr>
        <p:spPr>
          <a:xfrm>
            <a:off x="1330579" y="5536223"/>
            <a:ext cx="461376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One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CANopen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master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(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1) per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bus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.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Satellites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are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CANopen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slaves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. Node IDs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shown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are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firmware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7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defaults</a:t>
            </a:r>
            <a:r>
              <a:rPr lang="de-DE" sz="7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.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6E590C2-34C5-4A66-708D-5D70C5189DFC}"/>
              </a:ext>
            </a:extLst>
          </p:cNvPr>
          <p:cNvSpPr/>
          <p:nvPr/>
        </p:nvSpPr>
        <p:spPr>
          <a:xfrm>
            <a:off x="1037482" y="1414194"/>
            <a:ext cx="3562350" cy="3756660"/>
          </a:xfrm>
          <a:prstGeom prst="roundRect">
            <a:avLst>
              <a:gd name="adj" fmla="val 0"/>
            </a:avLst>
          </a:prstGeom>
          <a:solidFill>
            <a:srgbClr val="FBFCFD"/>
          </a:solidFill>
          <a:ln w="6477" cap="flat">
            <a:solidFill>
              <a:srgbClr val="D0D7DE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7233AB-6895-D10E-C019-7FB301AD360D}"/>
              </a:ext>
            </a:extLst>
          </p:cNvPr>
          <p:cNvSpPr txBox="1"/>
          <p:nvPr/>
        </p:nvSpPr>
        <p:spPr>
          <a:xfrm>
            <a:off x="1049674" y="1432035"/>
            <a:ext cx="1630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0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A | </a:t>
            </a:r>
            <a:r>
              <a:rPr lang="de-DE" sz="10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Standalone</a:t>
            </a:r>
            <a:r>
              <a:rPr lang="de-DE" sz="10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board v4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96C3F6-5241-5383-E320-24BFF46C52D7}"/>
              </a:ext>
            </a:extLst>
          </p:cNvPr>
          <p:cNvSpPr txBox="1"/>
          <p:nvPr/>
        </p:nvSpPr>
        <p:spPr>
          <a:xfrm>
            <a:off x="1049674" y="1621288"/>
            <a:ext cx="31918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Host sends JSON over USB. v4 drives its own axes; CAN carries illumination and galvo.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D702971D-0E2D-50BD-434F-31AE4AA8565F}"/>
              </a:ext>
            </a:extLst>
          </p:cNvPr>
          <p:cNvSpPr/>
          <p:nvPr/>
        </p:nvSpPr>
        <p:spPr>
          <a:xfrm>
            <a:off x="1296562" y="1841676"/>
            <a:ext cx="3044190" cy="336804"/>
          </a:xfrm>
          <a:prstGeom prst="roundRect">
            <a:avLst>
              <a:gd name="adj" fmla="val 0"/>
            </a:avLst>
          </a:prstGeom>
          <a:solidFill>
            <a:srgbClr val="EEF4FB"/>
          </a:solidFill>
          <a:ln w="6477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EA1735B-1928-351F-5236-DB8554724E6A}"/>
              </a:ext>
            </a:extLst>
          </p:cNvPr>
          <p:cNvSpPr txBox="1"/>
          <p:nvPr/>
        </p:nvSpPr>
        <p:spPr>
          <a:xfrm>
            <a:off x="2242506" y="1847588"/>
            <a:ext cx="12570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Host: PC or Raspberry Pi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466934A-5FED-FA1A-4A5C-1214871FF5EB}"/>
              </a:ext>
            </a:extLst>
          </p:cNvPr>
          <p:cNvSpPr txBox="1"/>
          <p:nvPr/>
        </p:nvSpPr>
        <p:spPr>
          <a:xfrm>
            <a:off x="1721719" y="1977640"/>
            <a:ext cx="22317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ImSwitch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uc2rest (Python)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WebSerial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any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serial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terminal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62563CC6-7E1B-7A08-F2DD-AFA67820B293}"/>
              </a:ext>
            </a:extLst>
          </p:cNvPr>
          <p:cNvSpPr/>
          <p:nvPr/>
        </p:nvSpPr>
        <p:spPr>
          <a:xfrm>
            <a:off x="2818657" y="2178480"/>
            <a:ext cx="6477" cy="310896"/>
          </a:xfrm>
          <a:custGeom>
            <a:avLst/>
            <a:gdLst>
              <a:gd name="csX0" fmla="*/ 0 w 6477"/>
              <a:gd name="csY0" fmla="*/ 0 h 310896"/>
              <a:gd name="csX1" fmla="*/ 0 w 6477"/>
              <a:gd name="csY1" fmla="*/ 310896 h 310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310896">
                <a:moveTo>
                  <a:pt x="0" y="0"/>
                </a:moveTo>
                <a:lnTo>
                  <a:pt x="0" y="310896"/>
                </a:lnTo>
              </a:path>
            </a:pathLst>
          </a:custGeom>
          <a:ln w="14249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E3326BD-7969-8E26-7267-86AA896D4FBE}"/>
              </a:ext>
            </a:extLst>
          </p:cNvPr>
          <p:cNvSpPr txBox="1"/>
          <p:nvPr/>
        </p:nvSpPr>
        <p:spPr>
          <a:xfrm>
            <a:off x="2791987" y="2230243"/>
            <a:ext cx="13003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USB </a:t>
            </a:r>
            <a:r>
              <a:rPr lang="de-DE" sz="600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serial</a:t>
            </a:r>
            <a:r>
              <a:rPr lang="de-DE" sz="600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JSON | 115200 8N1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D852D05-13D8-C049-D879-D9945A41837C}"/>
              </a:ext>
            </a:extLst>
          </p:cNvPr>
          <p:cNvSpPr/>
          <p:nvPr/>
        </p:nvSpPr>
        <p:spPr>
          <a:xfrm>
            <a:off x="1296562" y="2502330"/>
            <a:ext cx="3044190" cy="99745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477" cap="flat">
            <a:solidFill>
              <a:srgbClr val="1F2328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1F959AF-FACF-A5D8-7398-F5CB8E1E87E5}"/>
              </a:ext>
            </a:extLst>
          </p:cNvPr>
          <p:cNvSpPr txBox="1"/>
          <p:nvPr/>
        </p:nvSpPr>
        <p:spPr>
          <a:xfrm>
            <a:off x="1308754" y="2521196"/>
            <a:ext cx="14302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Standalone board v4 (ESP32)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78318FE-7034-FD65-C3B6-D2B0EA67ECA6}"/>
              </a:ext>
            </a:extLst>
          </p:cNvPr>
          <p:cNvSpPr txBox="1"/>
          <p:nvPr/>
        </p:nvSpPr>
        <p:spPr>
          <a:xfrm>
            <a:off x="1308754" y="2644771"/>
            <a:ext cx="260680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env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UC2_canopen_standalone_v4_release | CANopen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master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,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2C8232E8-300A-01F5-00D9-344DCEFF68D5}"/>
              </a:ext>
            </a:extLst>
          </p:cNvPr>
          <p:cNvSpPr/>
          <p:nvPr/>
        </p:nvSpPr>
        <p:spPr>
          <a:xfrm>
            <a:off x="1400194" y="2865042"/>
            <a:ext cx="906780" cy="284988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9E0EED9-1B98-88EB-F085-E6C79D7B19F2}"/>
              </a:ext>
            </a:extLst>
          </p:cNvPr>
          <p:cNvSpPr txBox="1"/>
          <p:nvPr/>
        </p:nvSpPr>
        <p:spPr>
          <a:xfrm>
            <a:off x="1486827" y="2858512"/>
            <a:ext cx="7264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Motors A X Y Z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C35965F-E736-44F5-4490-C80C39D57AB9}"/>
              </a:ext>
            </a:extLst>
          </p:cNvPr>
          <p:cNvSpPr txBox="1"/>
          <p:nvPr/>
        </p:nvSpPr>
        <p:spPr>
          <a:xfrm>
            <a:off x="1501335" y="2965639"/>
            <a:ext cx="74571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TMC2209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local</a:t>
            </a:r>
            <a:endParaRPr lang="de-DE" sz="600" spc="0" baseline="0" dirty="0">
              <a:ln/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962477B5-9199-4D81-FE69-FE3A1EB57169}"/>
              </a:ext>
            </a:extLst>
          </p:cNvPr>
          <p:cNvSpPr/>
          <p:nvPr/>
        </p:nvSpPr>
        <p:spPr>
          <a:xfrm>
            <a:off x="2365267" y="2865042"/>
            <a:ext cx="906780" cy="284988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64D493D-1C49-86B6-B1ED-3D32248CC58D}"/>
              </a:ext>
            </a:extLst>
          </p:cNvPr>
          <p:cNvSpPr txBox="1"/>
          <p:nvPr/>
        </p:nvSpPr>
        <p:spPr>
          <a:xfrm>
            <a:off x="2540668" y="2858512"/>
            <a:ext cx="58541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Lasers 1–3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DFFAB71-F90C-F044-430B-0BE1B384D01D}"/>
              </a:ext>
            </a:extLst>
          </p:cNvPr>
          <p:cNvSpPr txBox="1"/>
          <p:nvPr/>
        </p:nvSpPr>
        <p:spPr>
          <a:xfrm>
            <a:off x="2533638" y="2965639"/>
            <a:ext cx="59343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PWM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local</a:t>
            </a:r>
            <a:endParaRPr lang="de-DE" sz="600" spc="0" baseline="0" dirty="0">
              <a:ln/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AC704900-F1F2-228D-2478-B93E6AA64B52}"/>
              </a:ext>
            </a:extLst>
          </p:cNvPr>
          <p:cNvSpPr/>
          <p:nvPr/>
        </p:nvSpPr>
        <p:spPr>
          <a:xfrm>
            <a:off x="3330340" y="2865042"/>
            <a:ext cx="906780" cy="284988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4FBAEC8-4B5D-BC68-ABBA-A4F13BA0F825}"/>
              </a:ext>
            </a:extLst>
          </p:cNvPr>
          <p:cNvSpPr txBox="1"/>
          <p:nvPr/>
        </p:nvSpPr>
        <p:spPr>
          <a:xfrm>
            <a:off x="3538132" y="2858512"/>
            <a:ext cx="5036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LED ring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5F87666-5761-43D4-61A8-7C618ADC8B53}"/>
              </a:ext>
            </a:extLst>
          </p:cNvPr>
          <p:cNvSpPr txBox="1"/>
          <p:nvPr/>
        </p:nvSpPr>
        <p:spPr>
          <a:xfrm>
            <a:off x="3383491" y="2965639"/>
            <a:ext cx="82426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local + CAN mirror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F32FBDE-99ED-D7BC-B21F-FB3260E97F3C}"/>
              </a:ext>
            </a:extLst>
          </p:cNvPr>
          <p:cNvSpPr txBox="1"/>
          <p:nvPr/>
        </p:nvSpPr>
        <p:spPr>
          <a:xfrm>
            <a:off x="1308754" y="3214747"/>
            <a:ext cx="24208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DeviceRouter: each device id is routed LOCAL or to a CAN node.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1ED1F4E-E18E-86C8-20C9-6C63B44F8E56}"/>
              </a:ext>
            </a:extLst>
          </p:cNvPr>
          <p:cNvSpPr txBox="1"/>
          <p:nvPr/>
        </p:nvSpPr>
        <p:spPr>
          <a:xfrm>
            <a:off x="1308754" y="3318379"/>
            <a:ext cx="193033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Laser id 4, LED array and galvo → CAN by default.</a:t>
            </a:r>
          </a:p>
        </p:txBody>
      </p:sp>
      <p:sp>
        <p:nvSpPr>
          <p:cNvPr id="32" name="Freihandform 31">
            <a:extLst>
              <a:ext uri="{FF2B5EF4-FFF2-40B4-BE49-F238E27FC236}">
                <a16:creationId xmlns:a16="http://schemas.microsoft.com/office/drawing/2014/main" id="{56BDD802-B9AE-22ED-2261-144CB330914B}"/>
              </a:ext>
            </a:extLst>
          </p:cNvPr>
          <p:cNvSpPr/>
          <p:nvPr/>
        </p:nvSpPr>
        <p:spPr>
          <a:xfrm>
            <a:off x="2818657" y="3499788"/>
            <a:ext cx="6477" cy="336804"/>
          </a:xfrm>
          <a:custGeom>
            <a:avLst/>
            <a:gdLst>
              <a:gd name="csX0" fmla="*/ 0 w 6477"/>
              <a:gd name="csY0" fmla="*/ 0 h 336804"/>
              <a:gd name="csX1" fmla="*/ 0 w 6477"/>
              <a:gd name="csY1" fmla="*/ 336804 h 336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336804">
                <a:moveTo>
                  <a:pt x="0" y="0"/>
                </a:moveTo>
                <a:lnTo>
                  <a:pt x="0" y="336804"/>
                </a:lnTo>
              </a:path>
            </a:pathLst>
          </a:custGeom>
          <a:ln w="14249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3598D23-1EEF-2180-F024-85DDB83DC583}"/>
              </a:ext>
            </a:extLst>
          </p:cNvPr>
          <p:cNvSpPr txBox="1"/>
          <p:nvPr/>
        </p:nvSpPr>
        <p:spPr>
          <a:xfrm>
            <a:off x="2791987" y="3564505"/>
            <a:ext cx="13003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TWAI | TX GPIO32 / RX GPIO33</a:t>
            </a:r>
          </a:p>
        </p:txBody>
      </p:sp>
      <p:sp>
        <p:nvSpPr>
          <p:cNvPr id="34" name="Freihandform 33">
            <a:extLst>
              <a:ext uri="{FF2B5EF4-FFF2-40B4-BE49-F238E27FC236}">
                <a16:creationId xmlns:a16="http://schemas.microsoft.com/office/drawing/2014/main" id="{863957C0-8EBE-8C43-91BE-921C74D35648}"/>
              </a:ext>
            </a:extLst>
          </p:cNvPr>
          <p:cNvSpPr/>
          <p:nvPr/>
        </p:nvSpPr>
        <p:spPr>
          <a:xfrm>
            <a:off x="1296562" y="3875454"/>
            <a:ext cx="3044190" cy="6477"/>
          </a:xfrm>
          <a:custGeom>
            <a:avLst/>
            <a:gdLst>
              <a:gd name="csX0" fmla="*/ 0 w 3044190"/>
              <a:gd name="csY0" fmla="*/ 0 h 6477"/>
              <a:gd name="csX1" fmla="*/ 3044190 w 304419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044190" h="6477">
                <a:moveTo>
                  <a:pt x="0" y="0"/>
                </a:moveTo>
                <a:lnTo>
                  <a:pt x="3044190" y="0"/>
                </a:lnTo>
              </a:path>
            </a:pathLst>
          </a:custGeom>
          <a:ln w="15545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ihandform 34">
            <a:extLst>
              <a:ext uri="{FF2B5EF4-FFF2-40B4-BE49-F238E27FC236}">
                <a16:creationId xmlns:a16="http://schemas.microsoft.com/office/drawing/2014/main" id="{2CFED950-0AF0-8D32-F97B-685D430F4BE8}"/>
              </a:ext>
            </a:extLst>
          </p:cNvPr>
          <p:cNvSpPr/>
          <p:nvPr/>
        </p:nvSpPr>
        <p:spPr>
          <a:xfrm>
            <a:off x="1296562" y="3927270"/>
            <a:ext cx="3044190" cy="6477"/>
          </a:xfrm>
          <a:custGeom>
            <a:avLst/>
            <a:gdLst>
              <a:gd name="csX0" fmla="*/ 0 w 3044190"/>
              <a:gd name="csY0" fmla="*/ 0 h 6477"/>
              <a:gd name="csX1" fmla="*/ 3044190 w 304419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044190" h="6477">
                <a:moveTo>
                  <a:pt x="0" y="0"/>
                </a:moveTo>
                <a:lnTo>
                  <a:pt x="3044190" y="0"/>
                </a:lnTo>
              </a:path>
            </a:pathLst>
          </a:custGeom>
          <a:ln w="15545" cap="flat">
            <a:solidFill>
              <a:srgbClr val="1E8E4A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3CA289D-5EA3-A416-CB03-7CE290621B32}"/>
              </a:ext>
            </a:extLst>
          </p:cNvPr>
          <p:cNvSpPr txBox="1"/>
          <p:nvPr/>
        </p:nvSpPr>
        <p:spPr>
          <a:xfrm>
            <a:off x="1541926" y="3956620"/>
            <a:ext cx="228940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500 </a:t>
            </a:r>
            <a:r>
              <a:rPr lang="de-DE" sz="600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kbit</a:t>
            </a:r>
            <a:r>
              <a:rPr lang="de-DE" sz="600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/s | CAN_H solid / CAN_L </a:t>
            </a:r>
            <a:r>
              <a:rPr lang="de-DE" sz="600" spc="0" baseline="0" dirty="0" err="1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dashed</a:t>
            </a:r>
            <a:r>
              <a:rPr lang="de-DE" sz="600" spc="0" baseline="0" dirty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12 V on JST-XH 4</a:t>
            </a:r>
          </a:p>
        </p:txBody>
      </p:sp>
      <p:sp>
        <p:nvSpPr>
          <p:cNvPr id="41" name="Freihandform 40">
            <a:extLst>
              <a:ext uri="{FF2B5EF4-FFF2-40B4-BE49-F238E27FC236}">
                <a16:creationId xmlns:a16="http://schemas.microsoft.com/office/drawing/2014/main" id="{75A856E4-4631-46A1-88AA-13817E0C9DBC}"/>
              </a:ext>
            </a:extLst>
          </p:cNvPr>
          <p:cNvSpPr/>
          <p:nvPr/>
        </p:nvSpPr>
        <p:spPr>
          <a:xfrm>
            <a:off x="1529734" y="3927270"/>
            <a:ext cx="6477" cy="310896"/>
          </a:xfrm>
          <a:custGeom>
            <a:avLst/>
            <a:gdLst>
              <a:gd name="csX0" fmla="*/ 0 w 6477"/>
              <a:gd name="csY0" fmla="*/ 0 h 310896"/>
              <a:gd name="csX1" fmla="*/ 0 w 6477"/>
              <a:gd name="csY1" fmla="*/ 310896 h 310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310896">
                <a:moveTo>
                  <a:pt x="0" y="0"/>
                </a:moveTo>
                <a:lnTo>
                  <a:pt x="0" y="310896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ihandform 41">
            <a:extLst>
              <a:ext uri="{FF2B5EF4-FFF2-40B4-BE49-F238E27FC236}">
                <a16:creationId xmlns:a16="http://schemas.microsoft.com/office/drawing/2014/main" id="{6AF071F9-B51E-0ADD-6034-C3D80FD906AF}"/>
              </a:ext>
            </a:extLst>
          </p:cNvPr>
          <p:cNvSpPr/>
          <p:nvPr/>
        </p:nvSpPr>
        <p:spPr>
          <a:xfrm>
            <a:off x="4107580" y="3927270"/>
            <a:ext cx="6477" cy="310896"/>
          </a:xfrm>
          <a:custGeom>
            <a:avLst/>
            <a:gdLst>
              <a:gd name="csX0" fmla="*/ 0 w 6477"/>
              <a:gd name="csY0" fmla="*/ 0 h 310896"/>
              <a:gd name="csX1" fmla="*/ 0 w 6477"/>
              <a:gd name="csY1" fmla="*/ 310896 h 310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310896">
                <a:moveTo>
                  <a:pt x="0" y="0"/>
                </a:moveTo>
                <a:lnTo>
                  <a:pt x="0" y="310896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98967584-C59E-F919-84AB-AD574DE4F281}"/>
              </a:ext>
            </a:extLst>
          </p:cNvPr>
          <p:cNvSpPr/>
          <p:nvPr/>
        </p:nvSpPr>
        <p:spPr>
          <a:xfrm>
            <a:off x="1426102" y="4238166"/>
            <a:ext cx="1295400" cy="336804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E66632E-6C81-692B-5717-3AEA4C01CE11}"/>
              </a:ext>
            </a:extLst>
          </p:cNvPr>
          <p:cNvSpPr txBox="1"/>
          <p:nvPr/>
        </p:nvSpPr>
        <p:spPr>
          <a:xfrm>
            <a:off x="1613057" y="4237601"/>
            <a:ext cx="9733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Illumination board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4C987B0-D798-6877-63EC-497B064C3920}"/>
              </a:ext>
            </a:extLst>
          </p:cNvPr>
          <p:cNvSpPr txBox="1"/>
          <p:nvPr/>
        </p:nvSpPr>
        <p:spPr>
          <a:xfrm>
            <a:off x="1545012" y="4361176"/>
            <a:ext cx="107753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30 | LED +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laser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id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4</a:t>
            </a:r>
          </a:p>
        </p:txBody>
      </p:sp>
      <p:sp>
        <p:nvSpPr>
          <p:cNvPr id="46" name="Abgerundetes Rechteck 45">
            <a:extLst>
              <a:ext uri="{FF2B5EF4-FFF2-40B4-BE49-F238E27FC236}">
                <a16:creationId xmlns:a16="http://schemas.microsoft.com/office/drawing/2014/main" id="{965414E1-ACE3-9E70-C9E6-6D9CE88153EC}"/>
              </a:ext>
            </a:extLst>
          </p:cNvPr>
          <p:cNvSpPr/>
          <p:nvPr/>
        </p:nvSpPr>
        <p:spPr>
          <a:xfrm>
            <a:off x="2915812" y="4238166"/>
            <a:ext cx="1295400" cy="336804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AAE76E68-AD45-B7C3-479F-70DDCAA81833}"/>
              </a:ext>
            </a:extLst>
          </p:cNvPr>
          <p:cNvSpPr txBox="1"/>
          <p:nvPr/>
        </p:nvSpPr>
        <p:spPr>
          <a:xfrm>
            <a:off x="3231021" y="4237601"/>
            <a:ext cx="7088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Galvo board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EF2B37D7-373D-196F-5803-71BE5B7DADCB}"/>
              </a:ext>
            </a:extLst>
          </p:cNvPr>
          <p:cNvSpPr txBox="1"/>
          <p:nvPr/>
        </p:nvSpPr>
        <p:spPr>
          <a:xfrm>
            <a:off x="3331557" y="4361176"/>
            <a:ext cx="4619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 40</a:t>
            </a:r>
          </a:p>
        </p:txBody>
      </p:sp>
      <p:sp>
        <p:nvSpPr>
          <p:cNvPr id="49" name="Abgerundetes Rechteck 48">
            <a:extLst>
              <a:ext uri="{FF2B5EF4-FFF2-40B4-BE49-F238E27FC236}">
                <a16:creationId xmlns:a16="http://schemas.microsoft.com/office/drawing/2014/main" id="{0161C7D3-F9DB-9254-D760-EFAFF3635CB0}"/>
              </a:ext>
            </a:extLst>
          </p:cNvPr>
          <p:cNvSpPr/>
          <p:nvPr/>
        </p:nvSpPr>
        <p:spPr>
          <a:xfrm>
            <a:off x="1426102" y="4717464"/>
            <a:ext cx="2785110" cy="297942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6477" cap="flat">
            <a:solidFill>
              <a:srgbClr val="8C959F"/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21BFDDCB-0B8D-9639-5B34-50B12FF2DEE5}"/>
              </a:ext>
            </a:extLst>
          </p:cNvPr>
          <p:cNvSpPr txBox="1"/>
          <p:nvPr/>
        </p:nvSpPr>
        <p:spPr>
          <a:xfrm>
            <a:off x="1774699" y="4710934"/>
            <a:ext cx="20601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Extra CAN motors (stepperid ≥ 4) are not routed by this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81761F6-DF26-DF59-C7D5-45151F068646}"/>
              </a:ext>
            </a:extLst>
          </p:cNvPr>
          <p:cNvSpPr txBox="1"/>
          <p:nvPr/>
        </p:nvSpPr>
        <p:spPr>
          <a:xfrm>
            <a:off x="1793978" y="4814566"/>
            <a:ext cx="20697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firmware yet. Use the HAT+ topology (B) for CAN axes.</a:t>
            </a:r>
          </a:p>
        </p:txBody>
      </p: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A0803FEB-38A1-CE13-0D20-948DC38189DF}"/>
              </a:ext>
            </a:extLst>
          </p:cNvPr>
          <p:cNvSpPr/>
          <p:nvPr/>
        </p:nvSpPr>
        <p:spPr>
          <a:xfrm>
            <a:off x="4794142" y="1414194"/>
            <a:ext cx="3756660" cy="3756660"/>
          </a:xfrm>
          <a:prstGeom prst="roundRect">
            <a:avLst>
              <a:gd name="adj" fmla="val 0"/>
            </a:avLst>
          </a:prstGeom>
          <a:solidFill>
            <a:srgbClr val="FBFCFD"/>
          </a:solidFill>
          <a:ln w="6477" cap="flat">
            <a:solidFill>
              <a:srgbClr val="D0D7DE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95FE13BF-51AF-71F8-6E22-EA9491C1D555}"/>
              </a:ext>
            </a:extLst>
          </p:cNvPr>
          <p:cNvSpPr txBox="1"/>
          <p:nvPr/>
        </p:nvSpPr>
        <p:spPr>
          <a:xfrm>
            <a:off x="4806334" y="1432035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0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 | Raspberry Pi 5 + HAT+ (FRAME)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4C28B1B-93BF-ACD0-AAAC-07B0F7F69E8B}"/>
              </a:ext>
            </a:extLst>
          </p:cNvPr>
          <p:cNvSpPr txBox="1"/>
          <p:nvPr/>
        </p:nvSpPr>
        <p:spPr>
          <a:xfrm>
            <a:off x="4806334" y="1621288"/>
            <a:ext cx="290335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Two ways onto the same bus: via the ESP32 master (A) or directly via can0 (B).</a:t>
            </a:r>
          </a:p>
        </p:txBody>
      </p:sp>
      <p:sp>
        <p:nvSpPr>
          <p:cNvPr id="55" name="Abgerundetes Rechteck 54">
            <a:extLst>
              <a:ext uri="{FF2B5EF4-FFF2-40B4-BE49-F238E27FC236}">
                <a16:creationId xmlns:a16="http://schemas.microsoft.com/office/drawing/2014/main" id="{618DC922-4BEA-3325-887D-2600F972C5EF}"/>
              </a:ext>
            </a:extLst>
          </p:cNvPr>
          <p:cNvSpPr/>
          <p:nvPr/>
        </p:nvSpPr>
        <p:spPr>
          <a:xfrm>
            <a:off x="5053222" y="1841676"/>
            <a:ext cx="3238500" cy="336804"/>
          </a:xfrm>
          <a:prstGeom prst="roundRect">
            <a:avLst>
              <a:gd name="adj" fmla="val 0"/>
            </a:avLst>
          </a:prstGeom>
          <a:solidFill>
            <a:srgbClr val="EEF4FB"/>
          </a:solidFill>
          <a:ln w="6477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2A9CCF77-1BD7-B10A-E663-452A4FDD10BD}"/>
              </a:ext>
            </a:extLst>
          </p:cNvPr>
          <p:cNvSpPr txBox="1"/>
          <p:nvPr/>
        </p:nvSpPr>
        <p:spPr>
          <a:xfrm>
            <a:off x="6294263" y="1847588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Raspberry Pi 5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358EB35E-F208-D137-C1EE-B1189A9AD5BF}"/>
              </a:ext>
            </a:extLst>
          </p:cNvPr>
          <p:cNvSpPr txBox="1"/>
          <p:nvPr/>
        </p:nvSpPr>
        <p:spPr>
          <a:xfrm>
            <a:off x="5741779" y="1977640"/>
            <a:ext cx="188545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ImSwitch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uc2rest (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path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A) | uc2canopen (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path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B)</a:t>
            </a:r>
          </a:p>
        </p:txBody>
      </p:sp>
      <p:sp>
        <p:nvSpPr>
          <p:cNvPr id="58" name="Abgerundetes Rechteck 57">
            <a:extLst>
              <a:ext uri="{FF2B5EF4-FFF2-40B4-BE49-F238E27FC236}">
                <a16:creationId xmlns:a16="http://schemas.microsoft.com/office/drawing/2014/main" id="{4236F51F-D8F1-139A-6357-CC636BAD8E71}"/>
              </a:ext>
            </a:extLst>
          </p:cNvPr>
          <p:cNvSpPr/>
          <p:nvPr/>
        </p:nvSpPr>
        <p:spPr>
          <a:xfrm>
            <a:off x="5053222" y="2502330"/>
            <a:ext cx="3238500" cy="99745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477" cap="flat">
            <a:solidFill>
              <a:srgbClr val="1F2328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568929D4-4001-41FE-CE0F-6C3D2831EDAA}"/>
              </a:ext>
            </a:extLst>
          </p:cNvPr>
          <p:cNvSpPr txBox="1"/>
          <p:nvPr/>
        </p:nvSpPr>
        <p:spPr>
          <a:xfrm>
            <a:off x="5363356" y="2489323"/>
            <a:ext cx="187743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HAT+ v2</a:t>
            </a:r>
            <a:r>
              <a:rPr lang="de-DE" sz="600" b="1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J102 JST-XH 4 | 120 </a:t>
            </a:r>
            <a:r>
              <a:rPr lang="de-DE" sz="600" b="1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Ω</a:t>
            </a:r>
            <a:r>
              <a:rPr lang="de-DE" sz="600" b="1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</a:t>
            </a:r>
            <a:r>
              <a:rPr lang="de-DE" sz="600" b="1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jumper</a:t>
            </a:r>
            <a:r>
              <a:rPr lang="de-DE" sz="600" b="1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JP801</a:t>
            </a:r>
          </a:p>
        </p:txBody>
      </p:sp>
      <p:sp>
        <p:nvSpPr>
          <p:cNvPr id="60" name="Abgerundetes Rechteck 59">
            <a:extLst>
              <a:ext uri="{FF2B5EF4-FFF2-40B4-BE49-F238E27FC236}">
                <a16:creationId xmlns:a16="http://schemas.microsoft.com/office/drawing/2014/main" id="{04C08A84-52C0-E8A3-9046-2C5E0E38D467}"/>
              </a:ext>
            </a:extLst>
          </p:cNvPr>
          <p:cNvSpPr/>
          <p:nvPr/>
        </p:nvSpPr>
        <p:spPr>
          <a:xfrm>
            <a:off x="5156854" y="2683686"/>
            <a:ext cx="1424940" cy="595884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4B193B9-104B-B730-2898-D870B3BDBA57}"/>
              </a:ext>
            </a:extLst>
          </p:cNvPr>
          <p:cNvSpPr txBox="1"/>
          <p:nvPr/>
        </p:nvSpPr>
        <p:spPr>
          <a:xfrm>
            <a:off x="5394517" y="2680139"/>
            <a:ext cx="10470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ESP32-WROOM-32E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6D453743-03B9-0CEE-8B67-6C9048EBA3E0}"/>
              </a:ext>
            </a:extLst>
          </p:cNvPr>
          <p:cNvSpPr txBox="1"/>
          <p:nvPr/>
        </p:nvSpPr>
        <p:spPr>
          <a:xfrm>
            <a:off x="5356284" y="2803714"/>
            <a:ext cx="11063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env UC2_canopen_master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2825348-AF6B-E10D-BEBE-0A6BF1972F7D}"/>
              </a:ext>
            </a:extLst>
          </p:cNvPr>
          <p:cNvSpPr txBox="1"/>
          <p:nvPr/>
        </p:nvSpPr>
        <p:spPr>
          <a:xfrm>
            <a:off x="5363740" y="2907346"/>
            <a:ext cx="10567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CANopen master, node 1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887BF6CF-3DA6-C84A-0624-2191343DA17F}"/>
              </a:ext>
            </a:extLst>
          </p:cNvPr>
          <p:cNvSpPr txBox="1"/>
          <p:nvPr/>
        </p:nvSpPr>
        <p:spPr>
          <a:xfrm>
            <a:off x="5222079" y="3023932"/>
            <a:ext cx="137890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bus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power GPIO4 | E-stop GPIO34</a:t>
            </a:r>
          </a:p>
        </p:txBody>
      </p:sp>
      <p:sp>
        <p:nvSpPr>
          <p:cNvPr id="65" name="Abgerundetes Rechteck 64">
            <a:extLst>
              <a:ext uri="{FF2B5EF4-FFF2-40B4-BE49-F238E27FC236}">
                <a16:creationId xmlns:a16="http://schemas.microsoft.com/office/drawing/2014/main" id="{28C661E1-E946-A1FE-F873-DDEDCE249393}"/>
              </a:ext>
            </a:extLst>
          </p:cNvPr>
          <p:cNvSpPr/>
          <p:nvPr/>
        </p:nvSpPr>
        <p:spPr>
          <a:xfrm>
            <a:off x="6763150" y="2683686"/>
            <a:ext cx="1424940" cy="595884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BCAA507-CDE6-898A-0701-DEC5CB7D48C3}"/>
              </a:ext>
            </a:extLst>
          </p:cNvPr>
          <p:cNvSpPr txBox="1"/>
          <p:nvPr/>
        </p:nvSpPr>
        <p:spPr>
          <a:xfrm>
            <a:off x="6892257" y="2680139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MCP2515 + SN65HVD230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75D39CB-D3BC-0EEF-4954-1D91FB6662EE}"/>
              </a:ext>
            </a:extLst>
          </p:cNvPr>
          <p:cNvSpPr txBox="1"/>
          <p:nvPr/>
        </p:nvSpPr>
        <p:spPr>
          <a:xfrm>
            <a:off x="7016316" y="2803714"/>
            <a:ext cx="9797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Linux SocketCAN can0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A1A58A8F-9BB6-2976-7D2C-19CBCF1016CE}"/>
              </a:ext>
            </a:extLst>
          </p:cNvPr>
          <p:cNvSpPr txBox="1"/>
          <p:nvPr/>
        </p:nvSpPr>
        <p:spPr>
          <a:xfrm>
            <a:off x="6921827" y="2907346"/>
            <a:ext cx="117692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12 MHz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crystal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INT GPIO12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7296F3CC-E350-6A43-D4CE-A1784DA4F432}"/>
              </a:ext>
            </a:extLst>
          </p:cNvPr>
          <p:cNvSpPr txBox="1"/>
          <p:nvPr/>
        </p:nvSpPr>
        <p:spPr>
          <a:xfrm>
            <a:off x="6960416" y="3023932"/>
            <a:ext cx="10919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Pi GPIO23 cuts bus power</a:t>
            </a:r>
          </a:p>
        </p:txBody>
      </p:sp>
      <p:sp>
        <p:nvSpPr>
          <p:cNvPr id="70" name="Freihandform 69">
            <a:extLst>
              <a:ext uri="{FF2B5EF4-FFF2-40B4-BE49-F238E27FC236}">
                <a16:creationId xmlns:a16="http://schemas.microsoft.com/office/drawing/2014/main" id="{E14A2E14-C8F3-2B22-AD9F-E870C27C5D8D}"/>
              </a:ext>
            </a:extLst>
          </p:cNvPr>
          <p:cNvSpPr/>
          <p:nvPr/>
        </p:nvSpPr>
        <p:spPr>
          <a:xfrm>
            <a:off x="5377072" y="2178480"/>
            <a:ext cx="6477" cy="492252"/>
          </a:xfrm>
          <a:custGeom>
            <a:avLst/>
            <a:gdLst>
              <a:gd name="csX0" fmla="*/ 0 w 6477"/>
              <a:gd name="csY0" fmla="*/ 0 h 492252"/>
              <a:gd name="csX1" fmla="*/ 0 w 6477"/>
              <a:gd name="csY1" fmla="*/ 492252 h 492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492252">
                <a:moveTo>
                  <a:pt x="0" y="0"/>
                </a:moveTo>
                <a:lnTo>
                  <a:pt x="0" y="492252"/>
                </a:lnTo>
              </a:path>
            </a:pathLst>
          </a:custGeom>
          <a:ln w="14249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DF1E4EF3-7242-1DF7-8E1B-70A39C88ACB5}"/>
              </a:ext>
            </a:extLst>
          </p:cNvPr>
          <p:cNvSpPr txBox="1"/>
          <p:nvPr/>
        </p:nvSpPr>
        <p:spPr>
          <a:xfrm>
            <a:off x="5337448" y="2204335"/>
            <a:ext cx="99418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path</a:t>
            </a:r>
            <a:r>
              <a:rPr lang="de-DE" sz="600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A | JSON | 921600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5E701F6B-25FD-7ABA-7744-2717D214B542}"/>
              </a:ext>
            </a:extLst>
          </p:cNvPr>
          <p:cNvSpPr txBox="1"/>
          <p:nvPr/>
        </p:nvSpPr>
        <p:spPr>
          <a:xfrm>
            <a:off x="5337448" y="2307967"/>
            <a:ext cx="11512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UART GPIO14/15 or USB-C</a:t>
            </a:r>
          </a:p>
        </p:txBody>
      </p:sp>
      <p:sp>
        <p:nvSpPr>
          <p:cNvPr id="73" name="Freihandform 72">
            <a:extLst>
              <a:ext uri="{FF2B5EF4-FFF2-40B4-BE49-F238E27FC236}">
                <a16:creationId xmlns:a16="http://schemas.microsoft.com/office/drawing/2014/main" id="{55E48C8F-2BE8-B433-6D6D-78E76AF3E880}"/>
              </a:ext>
            </a:extLst>
          </p:cNvPr>
          <p:cNvSpPr/>
          <p:nvPr/>
        </p:nvSpPr>
        <p:spPr>
          <a:xfrm>
            <a:off x="7903102" y="2178480"/>
            <a:ext cx="6477" cy="492252"/>
          </a:xfrm>
          <a:custGeom>
            <a:avLst/>
            <a:gdLst>
              <a:gd name="csX0" fmla="*/ 0 w 6477"/>
              <a:gd name="csY0" fmla="*/ 0 h 492252"/>
              <a:gd name="csX1" fmla="*/ 0 w 6477"/>
              <a:gd name="csY1" fmla="*/ 492252 h 492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492252">
                <a:moveTo>
                  <a:pt x="0" y="0"/>
                </a:moveTo>
                <a:lnTo>
                  <a:pt x="0" y="492252"/>
                </a:lnTo>
              </a:path>
            </a:pathLst>
          </a:custGeom>
          <a:ln w="14249" cap="flat">
            <a:solidFill>
              <a:srgbClr val="7A4FB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CC8862B-AAAD-D63F-18E2-F2AD997B7297}"/>
              </a:ext>
            </a:extLst>
          </p:cNvPr>
          <p:cNvSpPr txBox="1"/>
          <p:nvPr/>
        </p:nvSpPr>
        <p:spPr>
          <a:xfrm>
            <a:off x="7180976" y="2204335"/>
            <a:ext cx="8066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7A4FB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path</a:t>
            </a:r>
            <a:r>
              <a:rPr lang="de-DE" sz="600" spc="0" baseline="0" dirty="0">
                <a:ln/>
                <a:solidFill>
                  <a:srgbClr val="7A4FB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B | SPI0 CE0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25C05618-D2E2-7E3F-7E7D-974AE0C389CB}"/>
              </a:ext>
            </a:extLst>
          </p:cNvPr>
          <p:cNvSpPr txBox="1"/>
          <p:nvPr/>
        </p:nvSpPr>
        <p:spPr>
          <a:xfrm>
            <a:off x="7359081" y="2307967"/>
            <a:ext cx="6062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7A4FB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INT GPIO12</a:t>
            </a:r>
          </a:p>
        </p:txBody>
      </p:sp>
      <p:sp>
        <p:nvSpPr>
          <p:cNvPr id="76" name="Freihandform 75">
            <a:extLst>
              <a:ext uri="{FF2B5EF4-FFF2-40B4-BE49-F238E27FC236}">
                <a16:creationId xmlns:a16="http://schemas.microsoft.com/office/drawing/2014/main" id="{6B48D047-63D6-8BA9-9CA2-ACBA4C91123F}"/>
              </a:ext>
            </a:extLst>
          </p:cNvPr>
          <p:cNvSpPr/>
          <p:nvPr/>
        </p:nvSpPr>
        <p:spPr>
          <a:xfrm>
            <a:off x="5869324" y="3279570"/>
            <a:ext cx="6477" cy="557022"/>
          </a:xfrm>
          <a:custGeom>
            <a:avLst/>
            <a:gdLst>
              <a:gd name="csX0" fmla="*/ 0 w 6477"/>
              <a:gd name="csY0" fmla="*/ 0 h 557022"/>
              <a:gd name="csX1" fmla="*/ 0 w 6477"/>
              <a:gd name="csY1" fmla="*/ 557022 h 557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557022">
                <a:moveTo>
                  <a:pt x="0" y="0"/>
                </a:moveTo>
                <a:lnTo>
                  <a:pt x="0" y="557022"/>
                </a:lnTo>
              </a:path>
            </a:pathLst>
          </a:custGeom>
          <a:ln w="14249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0B579012-8918-5708-7BFD-A1AFE8A3A8C8}"/>
              </a:ext>
            </a:extLst>
          </p:cNvPr>
          <p:cNvSpPr txBox="1"/>
          <p:nvPr/>
        </p:nvSpPr>
        <p:spPr>
          <a:xfrm>
            <a:off x="5829700" y="3564505"/>
            <a:ext cx="8370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TWAI TX17 / RX18</a:t>
            </a:r>
          </a:p>
        </p:txBody>
      </p:sp>
      <p:sp>
        <p:nvSpPr>
          <p:cNvPr id="78" name="Freihandform 77">
            <a:extLst>
              <a:ext uri="{FF2B5EF4-FFF2-40B4-BE49-F238E27FC236}">
                <a16:creationId xmlns:a16="http://schemas.microsoft.com/office/drawing/2014/main" id="{985270C3-5B00-B21C-1509-1A11A91260A6}"/>
              </a:ext>
            </a:extLst>
          </p:cNvPr>
          <p:cNvSpPr/>
          <p:nvPr/>
        </p:nvSpPr>
        <p:spPr>
          <a:xfrm>
            <a:off x="7475620" y="3279570"/>
            <a:ext cx="6477" cy="557022"/>
          </a:xfrm>
          <a:custGeom>
            <a:avLst/>
            <a:gdLst>
              <a:gd name="csX0" fmla="*/ 0 w 6477"/>
              <a:gd name="csY0" fmla="*/ 0 h 557022"/>
              <a:gd name="csX1" fmla="*/ 0 w 6477"/>
              <a:gd name="csY1" fmla="*/ 557022 h 557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557022">
                <a:moveTo>
                  <a:pt x="0" y="0"/>
                </a:moveTo>
                <a:lnTo>
                  <a:pt x="0" y="557022"/>
                </a:lnTo>
              </a:path>
            </a:pathLst>
          </a:custGeom>
          <a:ln w="14249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29557659-3D6D-914C-946E-4386232F200A}"/>
              </a:ext>
            </a:extLst>
          </p:cNvPr>
          <p:cNvSpPr txBox="1"/>
          <p:nvPr/>
        </p:nvSpPr>
        <p:spPr>
          <a:xfrm>
            <a:off x="7435996" y="3564505"/>
            <a:ext cx="7906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SDO / PDO direct</a:t>
            </a:r>
          </a:p>
        </p:txBody>
      </p:sp>
      <p:sp>
        <p:nvSpPr>
          <p:cNvPr id="80" name="Freihandform 79">
            <a:extLst>
              <a:ext uri="{FF2B5EF4-FFF2-40B4-BE49-F238E27FC236}">
                <a16:creationId xmlns:a16="http://schemas.microsoft.com/office/drawing/2014/main" id="{BB59D53F-4851-8C2A-5382-8DE38058802C}"/>
              </a:ext>
            </a:extLst>
          </p:cNvPr>
          <p:cNvSpPr/>
          <p:nvPr/>
        </p:nvSpPr>
        <p:spPr>
          <a:xfrm>
            <a:off x="5053222" y="3875454"/>
            <a:ext cx="3238500" cy="6477"/>
          </a:xfrm>
          <a:custGeom>
            <a:avLst/>
            <a:gdLst>
              <a:gd name="csX0" fmla="*/ 0 w 3238500"/>
              <a:gd name="csY0" fmla="*/ 0 h 6477"/>
              <a:gd name="csX1" fmla="*/ 3238500 w 323850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38500" h="6477">
                <a:moveTo>
                  <a:pt x="0" y="0"/>
                </a:moveTo>
                <a:lnTo>
                  <a:pt x="3238500" y="0"/>
                </a:lnTo>
              </a:path>
            </a:pathLst>
          </a:custGeom>
          <a:ln w="15545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Freihandform 80">
            <a:extLst>
              <a:ext uri="{FF2B5EF4-FFF2-40B4-BE49-F238E27FC236}">
                <a16:creationId xmlns:a16="http://schemas.microsoft.com/office/drawing/2014/main" id="{62A2EBA2-DA5D-EBE1-A7B3-62FF7699BE47}"/>
              </a:ext>
            </a:extLst>
          </p:cNvPr>
          <p:cNvSpPr/>
          <p:nvPr/>
        </p:nvSpPr>
        <p:spPr>
          <a:xfrm>
            <a:off x="5053222" y="3927270"/>
            <a:ext cx="3238500" cy="6477"/>
          </a:xfrm>
          <a:custGeom>
            <a:avLst/>
            <a:gdLst>
              <a:gd name="csX0" fmla="*/ 0 w 3238500"/>
              <a:gd name="csY0" fmla="*/ 0 h 6477"/>
              <a:gd name="csX1" fmla="*/ 3238500 w 323850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38500" h="6477">
                <a:moveTo>
                  <a:pt x="0" y="0"/>
                </a:moveTo>
                <a:lnTo>
                  <a:pt x="3238500" y="0"/>
                </a:lnTo>
              </a:path>
            </a:pathLst>
          </a:custGeom>
          <a:ln w="15545" cap="flat">
            <a:solidFill>
              <a:srgbClr val="1E8E4A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Freihandform 85">
            <a:extLst>
              <a:ext uri="{FF2B5EF4-FFF2-40B4-BE49-F238E27FC236}">
                <a16:creationId xmlns:a16="http://schemas.microsoft.com/office/drawing/2014/main" id="{2239E18B-B767-7684-A286-2649E514CB0C}"/>
              </a:ext>
            </a:extLst>
          </p:cNvPr>
          <p:cNvSpPr/>
          <p:nvPr/>
        </p:nvSpPr>
        <p:spPr>
          <a:xfrm>
            <a:off x="5428888" y="3927270"/>
            <a:ext cx="6477" cy="181356"/>
          </a:xfrm>
          <a:custGeom>
            <a:avLst/>
            <a:gdLst>
              <a:gd name="csX0" fmla="*/ 0 w 6477"/>
              <a:gd name="csY0" fmla="*/ 0 h 181356"/>
              <a:gd name="csX1" fmla="*/ 0 w 6477"/>
              <a:gd name="csY1" fmla="*/ 181356 h 181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Freihandform 86">
            <a:extLst>
              <a:ext uri="{FF2B5EF4-FFF2-40B4-BE49-F238E27FC236}">
                <a16:creationId xmlns:a16="http://schemas.microsoft.com/office/drawing/2014/main" id="{31C57379-C8E5-E610-4EE1-F94F9D9523BF}"/>
              </a:ext>
            </a:extLst>
          </p:cNvPr>
          <p:cNvSpPr/>
          <p:nvPr/>
        </p:nvSpPr>
        <p:spPr>
          <a:xfrm>
            <a:off x="6251467" y="3927270"/>
            <a:ext cx="6477" cy="181356"/>
          </a:xfrm>
          <a:custGeom>
            <a:avLst/>
            <a:gdLst>
              <a:gd name="csX0" fmla="*/ 0 w 6477"/>
              <a:gd name="csY0" fmla="*/ 0 h 181356"/>
              <a:gd name="csX1" fmla="*/ 0 w 6477"/>
              <a:gd name="csY1" fmla="*/ 181356 h 181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Freihandform 87">
            <a:extLst>
              <a:ext uri="{FF2B5EF4-FFF2-40B4-BE49-F238E27FC236}">
                <a16:creationId xmlns:a16="http://schemas.microsoft.com/office/drawing/2014/main" id="{7EA0FD9A-E9F4-235B-ADC0-56CEC765DEFE}"/>
              </a:ext>
            </a:extLst>
          </p:cNvPr>
          <p:cNvSpPr/>
          <p:nvPr/>
        </p:nvSpPr>
        <p:spPr>
          <a:xfrm>
            <a:off x="7074046" y="3927270"/>
            <a:ext cx="6477" cy="181356"/>
          </a:xfrm>
          <a:custGeom>
            <a:avLst/>
            <a:gdLst>
              <a:gd name="csX0" fmla="*/ 0 w 6477"/>
              <a:gd name="csY0" fmla="*/ 0 h 181356"/>
              <a:gd name="csX1" fmla="*/ 0 w 6477"/>
              <a:gd name="csY1" fmla="*/ 181356 h 181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Freihandform 88">
            <a:extLst>
              <a:ext uri="{FF2B5EF4-FFF2-40B4-BE49-F238E27FC236}">
                <a16:creationId xmlns:a16="http://schemas.microsoft.com/office/drawing/2014/main" id="{CB290498-9D4C-863C-921F-E697C8F0821F}"/>
              </a:ext>
            </a:extLst>
          </p:cNvPr>
          <p:cNvSpPr/>
          <p:nvPr/>
        </p:nvSpPr>
        <p:spPr>
          <a:xfrm>
            <a:off x="7896625" y="3927270"/>
            <a:ext cx="6477" cy="181356"/>
          </a:xfrm>
          <a:custGeom>
            <a:avLst/>
            <a:gdLst>
              <a:gd name="csX0" fmla="*/ 0 w 6477"/>
              <a:gd name="csY0" fmla="*/ 0 h 181356"/>
              <a:gd name="csX1" fmla="*/ 0 w 6477"/>
              <a:gd name="csY1" fmla="*/ 181356 h 181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Freihandform 89">
            <a:extLst>
              <a:ext uri="{FF2B5EF4-FFF2-40B4-BE49-F238E27FC236}">
                <a16:creationId xmlns:a16="http://schemas.microsoft.com/office/drawing/2014/main" id="{D890DC85-5A98-5EEC-4F02-E3A683E6DD46}"/>
              </a:ext>
            </a:extLst>
          </p:cNvPr>
          <p:cNvSpPr/>
          <p:nvPr/>
        </p:nvSpPr>
        <p:spPr>
          <a:xfrm>
            <a:off x="5843416" y="3927270"/>
            <a:ext cx="6477" cy="647700"/>
          </a:xfrm>
          <a:custGeom>
            <a:avLst/>
            <a:gdLst>
              <a:gd name="csX0" fmla="*/ 0 w 6477"/>
              <a:gd name="csY0" fmla="*/ 0 h 647700"/>
              <a:gd name="csX1" fmla="*/ 0 w 6477"/>
              <a:gd name="csY1" fmla="*/ 647700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Freihandform 90">
            <a:extLst>
              <a:ext uri="{FF2B5EF4-FFF2-40B4-BE49-F238E27FC236}">
                <a16:creationId xmlns:a16="http://schemas.microsoft.com/office/drawing/2014/main" id="{28D4B116-8C66-80AC-881C-CDEFFA046F4D}"/>
              </a:ext>
            </a:extLst>
          </p:cNvPr>
          <p:cNvSpPr/>
          <p:nvPr/>
        </p:nvSpPr>
        <p:spPr>
          <a:xfrm>
            <a:off x="6665995" y="3927270"/>
            <a:ext cx="6477" cy="647700"/>
          </a:xfrm>
          <a:custGeom>
            <a:avLst/>
            <a:gdLst>
              <a:gd name="csX0" fmla="*/ 0 w 6477"/>
              <a:gd name="csY0" fmla="*/ 0 h 647700"/>
              <a:gd name="csX1" fmla="*/ 0 w 6477"/>
              <a:gd name="csY1" fmla="*/ 647700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Freihandform 91">
            <a:extLst>
              <a:ext uri="{FF2B5EF4-FFF2-40B4-BE49-F238E27FC236}">
                <a16:creationId xmlns:a16="http://schemas.microsoft.com/office/drawing/2014/main" id="{1BB7CC19-8C3B-ED7A-58E8-429D3A36AFBC}"/>
              </a:ext>
            </a:extLst>
          </p:cNvPr>
          <p:cNvSpPr/>
          <p:nvPr/>
        </p:nvSpPr>
        <p:spPr>
          <a:xfrm>
            <a:off x="7488574" y="3927270"/>
            <a:ext cx="6477" cy="647700"/>
          </a:xfrm>
          <a:custGeom>
            <a:avLst/>
            <a:gdLst>
              <a:gd name="csX0" fmla="*/ 0 w 6477"/>
              <a:gd name="csY0" fmla="*/ 0 h 647700"/>
              <a:gd name="csX1" fmla="*/ 0 w 6477"/>
              <a:gd name="csY1" fmla="*/ 647700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Abgerundetes Rechteck 92">
            <a:extLst>
              <a:ext uri="{FF2B5EF4-FFF2-40B4-BE49-F238E27FC236}">
                <a16:creationId xmlns:a16="http://schemas.microsoft.com/office/drawing/2014/main" id="{554483BC-AEAD-6EDB-FB2B-2B07B13319CF}"/>
              </a:ext>
            </a:extLst>
          </p:cNvPr>
          <p:cNvSpPr/>
          <p:nvPr/>
        </p:nvSpPr>
        <p:spPr>
          <a:xfrm>
            <a:off x="5053222" y="4108626"/>
            <a:ext cx="757809" cy="349758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6BAC85F9-54C2-0EAF-C202-EADD36AFE56B}"/>
              </a:ext>
            </a:extLst>
          </p:cNvPr>
          <p:cNvSpPr txBox="1"/>
          <p:nvPr/>
        </p:nvSpPr>
        <p:spPr>
          <a:xfrm>
            <a:off x="5062131" y="4121527"/>
            <a:ext cx="7264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Motors A X Y Z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749F219E-DB69-BE1D-E30C-B7ABCE775A6D}"/>
              </a:ext>
            </a:extLst>
          </p:cNvPr>
          <p:cNvSpPr txBox="1"/>
          <p:nvPr/>
        </p:nvSpPr>
        <p:spPr>
          <a:xfrm>
            <a:off x="5128212" y="4241608"/>
            <a:ext cx="6335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nodes 10–13</a:t>
            </a:r>
          </a:p>
        </p:txBody>
      </p:sp>
      <p:sp>
        <p:nvSpPr>
          <p:cNvPr id="96" name="Abgerundetes Rechteck 95">
            <a:extLst>
              <a:ext uri="{FF2B5EF4-FFF2-40B4-BE49-F238E27FC236}">
                <a16:creationId xmlns:a16="http://schemas.microsoft.com/office/drawing/2014/main" id="{C8D7BCA2-04CE-AE49-9684-65C35E989289}"/>
              </a:ext>
            </a:extLst>
          </p:cNvPr>
          <p:cNvSpPr/>
          <p:nvPr/>
        </p:nvSpPr>
        <p:spPr>
          <a:xfrm>
            <a:off x="5875801" y="4108626"/>
            <a:ext cx="757809" cy="349758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9B37E86-59F2-1D26-2236-B62748B357C6}"/>
              </a:ext>
            </a:extLst>
          </p:cNvPr>
          <p:cNvSpPr txBox="1"/>
          <p:nvPr/>
        </p:nvSpPr>
        <p:spPr>
          <a:xfrm>
            <a:off x="5947177" y="4121527"/>
            <a:ext cx="62549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Laser board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4079928E-5702-F93A-FC16-EDBBCC87A163}"/>
              </a:ext>
            </a:extLst>
          </p:cNvPr>
          <p:cNvSpPr txBox="1"/>
          <p:nvPr/>
        </p:nvSpPr>
        <p:spPr>
          <a:xfrm>
            <a:off x="5889635" y="4241608"/>
            <a:ext cx="7585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20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ch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0–3</a:t>
            </a:r>
          </a:p>
        </p:txBody>
      </p:sp>
      <p:sp>
        <p:nvSpPr>
          <p:cNvPr id="99" name="Abgerundetes Rechteck 98">
            <a:extLst>
              <a:ext uri="{FF2B5EF4-FFF2-40B4-BE49-F238E27FC236}">
                <a16:creationId xmlns:a16="http://schemas.microsoft.com/office/drawing/2014/main" id="{898A5B0B-9FF4-E1B3-DCC4-6DDC8A9F0901}"/>
              </a:ext>
            </a:extLst>
          </p:cNvPr>
          <p:cNvSpPr/>
          <p:nvPr/>
        </p:nvSpPr>
        <p:spPr>
          <a:xfrm>
            <a:off x="6698380" y="4108626"/>
            <a:ext cx="757809" cy="349758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04B65CCF-26A1-4332-9184-7DCF0413E0DA}"/>
              </a:ext>
            </a:extLst>
          </p:cNvPr>
          <p:cNvSpPr txBox="1"/>
          <p:nvPr/>
        </p:nvSpPr>
        <p:spPr>
          <a:xfrm>
            <a:off x="6771958" y="4121527"/>
            <a:ext cx="60305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LED / illum.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9A8D0451-334A-54D1-CD64-E5BDB7FF4D49}"/>
              </a:ext>
            </a:extLst>
          </p:cNvPr>
          <p:cNvSpPr txBox="1"/>
          <p:nvPr/>
        </p:nvSpPr>
        <p:spPr>
          <a:xfrm>
            <a:off x="6847946" y="4241608"/>
            <a:ext cx="4619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 30</a:t>
            </a:r>
          </a:p>
        </p:txBody>
      </p:sp>
      <p:sp>
        <p:nvSpPr>
          <p:cNvPr id="102" name="Abgerundetes Rechteck 101">
            <a:extLst>
              <a:ext uri="{FF2B5EF4-FFF2-40B4-BE49-F238E27FC236}">
                <a16:creationId xmlns:a16="http://schemas.microsoft.com/office/drawing/2014/main" id="{5985BDD0-714A-EBE1-8D53-6C0F9215C609}"/>
              </a:ext>
            </a:extLst>
          </p:cNvPr>
          <p:cNvSpPr/>
          <p:nvPr/>
        </p:nvSpPr>
        <p:spPr>
          <a:xfrm>
            <a:off x="7520959" y="4108626"/>
            <a:ext cx="757809" cy="349758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39883A9E-46EB-2628-D8B6-EBD7FAA71100}"/>
              </a:ext>
            </a:extLst>
          </p:cNvPr>
          <p:cNvSpPr txBox="1"/>
          <p:nvPr/>
        </p:nvSpPr>
        <p:spPr>
          <a:xfrm>
            <a:off x="7701160" y="4121527"/>
            <a:ext cx="3978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Galvo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C3F651A2-9B97-B526-E8D0-A6CDBA5876C4}"/>
              </a:ext>
            </a:extLst>
          </p:cNvPr>
          <p:cNvSpPr txBox="1"/>
          <p:nvPr/>
        </p:nvSpPr>
        <p:spPr>
          <a:xfrm>
            <a:off x="7670525" y="4241608"/>
            <a:ext cx="4619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 40</a:t>
            </a:r>
          </a:p>
        </p:txBody>
      </p:sp>
      <p:sp>
        <p:nvSpPr>
          <p:cNvPr id="105" name="Abgerundetes Rechteck 104">
            <a:extLst>
              <a:ext uri="{FF2B5EF4-FFF2-40B4-BE49-F238E27FC236}">
                <a16:creationId xmlns:a16="http://schemas.microsoft.com/office/drawing/2014/main" id="{282D893E-AA12-007A-4544-4EF7851D46D7}"/>
              </a:ext>
            </a:extLst>
          </p:cNvPr>
          <p:cNvSpPr/>
          <p:nvPr/>
        </p:nvSpPr>
        <p:spPr>
          <a:xfrm>
            <a:off x="5467750" y="4574970"/>
            <a:ext cx="757809" cy="349758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F044B3E3-E65E-B918-7C98-7C8BF06DA6FD}"/>
              </a:ext>
            </a:extLst>
          </p:cNvPr>
          <p:cNvSpPr txBox="1"/>
          <p:nvPr/>
        </p:nvSpPr>
        <p:spPr>
          <a:xfrm>
            <a:off x="5503699" y="4587871"/>
            <a:ext cx="67358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 / E-stop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4379160E-A4C8-CC07-658D-AD93E05FE768}"/>
              </a:ext>
            </a:extLst>
          </p:cNvPr>
          <p:cNvSpPr txBox="1"/>
          <p:nvPr/>
        </p:nvSpPr>
        <p:spPr>
          <a:xfrm>
            <a:off x="5617316" y="4707952"/>
            <a:ext cx="4619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 60</a:t>
            </a:r>
          </a:p>
        </p:txBody>
      </p:sp>
      <p:sp>
        <p:nvSpPr>
          <p:cNvPr id="108" name="Abgerundetes Rechteck 107">
            <a:extLst>
              <a:ext uri="{FF2B5EF4-FFF2-40B4-BE49-F238E27FC236}">
                <a16:creationId xmlns:a16="http://schemas.microsoft.com/office/drawing/2014/main" id="{FC1E779F-3276-6C91-4503-99A13AD0DBF0}"/>
              </a:ext>
            </a:extLst>
          </p:cNvPr>
          <p:cNvSpPr/>
          <p:nvPr/>
        </p:nvSpPr>
        <p:spPr>
          <a:xfrm>
            <a:off x="6290329" y="4574970"/>
            <a:ext cx="757809" cy="349758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1C87D5AE-DA54-0279-E281-E9F80422E0E5}"/>
              </a:ext>
            </a:extLst>
          </p:cNvPr>
          <p:cNvSpPr txBox="1"/>
          <p:nvPr/>
        </p:nvSpPr>
        <p:spPr>
          <a:xfrm>
            <a:off x="6322729" y="4587871"/>
            <a:ext cx="6928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PTZ keyboard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FFBBE1C4-DBB2-A44F-6C7E-D3CA01A8A84C}"/>
              </a:ext>
            </a:extLst>
          </p:cNvPr>
          <p:cNvSpPr txBox="1"/>
          <p:nvPr/>
        </p:nvSpPr>
        <p:spPr>
          <a:xfrm>
            <a:off x="6304217" y="4707952"/>
            <a:ext cx="7409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bridge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61</a:t>
            </a:r>
          </a:p>
        </p:txBody>
      </p:sp>
      <p:sp>
        <p:nvSpPr>
          <p:cNvPr id="111" name="Abgerundetes Rechteck 110">
            <a:extLst>
              <a:ext uri="{FF2B5EF4-FFF2-40B4-BE49-F238E27FC236}">
                <a16:creationId xmlns:a16="http://schemas.microsoft.com/office/drawing/2014/main" id="{93CC304F-311B-C8FB-419E-3561D3E31F96}"/>
              </a:ext>
            </a:extLst>
          </p:cNvPr>
          <p:cNvSpPr/>
          <p:nvPr/>
        </p:nvSpPr>
        <p:spPr>
          <a:xfrm>
            <a:off x="7112908" y="4574970"/>
            <a:ext cx="757809" cy="349758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D22C1F8E-1FF7-A660-5096-A3D8CBA5EE7B}"/>
              </a:ext>
            </a:extLst>
          </p:cNvPr>
          <p:cNvSpPr txBox="1"/>
          <p:nvPr/>
        </p:nvSpPr>
        <p:spPr>
          <a:xfrm>
            <a:off x="7153506" y="4587871"/>
            <a:ext cx="69762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PS4 USB host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783151EA-83D6-0E1B-615E-49A7642A8558}"/>
              </a:ext>
            </a:extLst>
          </p:cNvPr>
          <p:cNvSpPr txBox="1"/>
          <p:nvPr/>
        </p:nvSpPr>
        <p:spPr>
          <a:xfrm>
            <a:off x="7146872" y="4707952"/>
            <a:ext cx="699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bridge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node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5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446CF865-B103-FFEF-869D-9CBE04884CFB}"/>
              </a:ext>
            </a:extLst>
          </p:cNvPr>
          <p:cNvSpPr txBox="1"/>
          <p:nvPr/>
        </p:nvSpPr>
        <p:spPr>
          <a:xfrm>
            <a:off x="4961782" y="4954078"/>
            <a:ext cx="28071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Bridges send their own SDOs to the satellites (extra SDO clients on the bus).</a:t>
            </a:r>
          </a:p>
        </p:txBody>
      </p:sp>
      <p:sp>
        <p:nvSpPr>
          <p:cNvPr id="115" name="Freihandform 114">
            <a:extLst>
              <a:ext uri="{FF2B5EF4-FFF2-40B4-BE49-F238E27FC236}">
                <a16:creationId xmlns:a16="http://schemas.microsoft.com/office/drawing/2014/main" id="{1DB4D58E-196A-97D1-4B91-C1A301395B90}"/>
              </a:ext>
            </a:extLst>
          </p:cNvPr>
          <p:cNvSpPr/>
          <p:nvPr/>
        </p:nvSpPr>
        <p:spPr>
          <a:xfrm>
            <a:off x="1063390" y="5432244"/>
            <a:ext cx="194310" cy="6477"/>
          </a:xfrm>
          <a:custGeom>
            <a:avLst/>
            <a:gdLst>
              <a:gd name="csX0" fmla="*/ 0 w 194310"/>
              <a:gd name="csY0" fmla="*/ 0 h 6477"/>
              <a:gd name="csX1" fmla="*/ 194310 w 19431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4310" h="6477">
                <a:moveTo>
                  <a:pt x="0" y="0"/>
                </a:moveTo>
                <a:lnTo>
                  <a:pt x="194310" y="0"/>
                </a:lnTo>
              </a:path>
            </a:pathLst>
          </a:custGeom>
          <a:ln w="15545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2B574EF1-CBCA-E040-9DF0-F35CA56D656B}"/>
              </a:ext>
            </a:extLst>
          </p:cNvPr>
          <p:cNvSpPr txBox="1"/>
          <p:nvPr/>
        </p:nvSpPr>
        <p:spPr>
          <a:xfrm>
            <a:off x="1205122" y="5328559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serial JSON</a:t>
            </a:r>
          </a:p>
        </p:txBody>
      </p:sp>
      <p:sp>
        <p:nvSpPr>
          <p:cNvPr id="117" name="Freihandform 116">
            <a:extLst>
              <a:ext uri="{FF2B5EF4-FFF2-40B4-BE49-F238E27FC236}">
                <a16:creationId xmlns:a16="http://schemas.microsoft.com/office/drawing/2014/main" id="{B6E6FCCF-9A07-D4C7-C6A7-16B2B272DFA9}"/>
              </a:ext>
            </a:extLst>
          </p:cNvPr>
          <p:cNvSpPr/>
          <p:nvPr/>
        </p:nvSpPr>
        <p:spPr>
          <a:xfrm>
            <a:off x="1944262" y="5432244"/>
            <a:ext cx="194310" cy="6477"/>
          </a:xfrm>
          <a:custGeom>
            <a:avLst/>
            <a:gdLst>
              <a:gd name="csX0" fmla="*/ 0 w 194310"/>
              <a:gd name="csY0" fmla="*/ 0 h 6477"/>
              <a:gd name="csX1" fmla="*/ 194310 w 19431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4310" h="6477">
                <a:moveTo>
                  <a:pt x="0" y="0"/>
                </a:moveTo>
                <a:lnTo>
                  <a:pt x="194310" y="0"/>
                </a:lnTo>
              </a:path>
            </a:pathLst>
          </a:custGeom>
          <a:ln w="15545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12D80C25-7DD1-69EA-F269-663C0254AEAF}"/>
              </a:ext>
            </a:extLst>
          </p:cNvPr>
          <p:cNvSpPr txBox="1"/>
          <p:nvPr/>
        </p:nvSpPr>
        <p:spPr>
          <a:xfrm>
            <a:off x="2085994" y="5328559"/>
            <a:ext cx="11144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CAN / CANopen, 500 kbit/s</a:t>
            </a:r>
          </a:p>
        </p:txBody>
      </p:sp>
      <p:sp>
        <p:nvSpPr>
          <p:cNvPr id="119" name="Freihandform 118">
            <a:extLst>
              <a:ext uri="{FF2B5EF4-FFF2-40B4-BE49-F238E27FC236}">
                <a16:creationId xmlns:a16="http://schemas.microsoft.com/office/drawing/2014/main" id="{E00282A2-1180-2C62-6DB5-685E2755948A}"/>
              </a:ext>
            </a:extLst>
          </p:cNvPr>
          <p:cNvSpPr/>
          <p:nvPr/>
        </p:nvSpPr>
        <p:spPr>
          <a:xfrm>
            <a:off x="3304432" y="5432244"/>
            <a:ext cx="194310" cy="6477"/>
          </a:xfrm>
          <a:custGeom>
            <a:avLst/>
            <a:gdLst>
              <a:gd name="csX0" fmla="*/ 0 w 194310"/>
              <a:gd name="csY0" fmla="*/ 0 h 6477"/>
              <a:gd name="csX1" fmla="*/ 194310 w 19431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4310" h="6477">
                <a:moveTo>
                  <a:pt x="0" y="0"/>
                </a:moveTo>
                <a:lnTo>
                  <a:pt x="194310" y="0"/>
                </a:lnTo>
              </a:path>
            </a:pathLst>
          </a:custGeom>
          <a:ln w="15545" cap="flat">
            <a:solidFill>
              <a:srgbClr val="7A4FB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C9680A50-9A58-C925-9446-AAB4E41C662B}"/>
              </a:ext>
            </a:extLst>
          </p:cNvPr>
          <p:cNvSpPr txBox="1"/>
          <p:nvPr/>
        </p:nvSpPr>
        <p:spPr>
          <a:xfrm>
            <a:off x="3446164" y="5328559"/>
            <a:ext cx="3080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SPI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2F7A69E1-428D-D1A7-2B9E-0D00DF1BD49C}"/>
              </a:ext>
            </a:extLst>
          </p:cNvPr>
          <p:cNvSpPr txBox="1"/>
          <p:nvPr/>
        </p:nvSpPr>
        <p:spPr>
          <a:xfrm>
            <a:off x="3795922" y="5328559"/>
            <a:ext cx="246574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Terminate both physical ends of the bus with 120 Ω, nowhere else.</a:t>
            </a:r>
          </a:p>
        </p:txBody>
      </p:sp>
    </p:spTree>
    <p:extLst>
      <p:ext uri="{BB962C8B-B14F-4D97-AF65-F5344CB8AC3E}">
        <p14:creationId xmlns:p14="http://schemas.microsoft.com/office/powerpoint/2010/main" val="65663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06B6D455-4ECC-F843-BD2C-408B1C7D44D3}"/>
              </a:ext>
            </a:extLst>
          </p:cNvPr>
          <p:cNvSpPr txBox="1"/>
          <p:nvPr/>
        </p:nvSpPr>
        <p:spPr>
          <a:xfrm>
            <a:off x="445008" y="524939"/>
            <a:ext cx="24513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05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HAT+ v2 (Rev D): who talks to what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4364477-10BD-473E-7C45-CC4B139F61CA}"/>
              </a:ext>
            </a:extLst>
          </p:cNvPr>
          <p:cNvSpPr txBox="1"/>
          <p:nvPr/>
        </p:nvSpPr>
        <p:spPr>
          <a:xfrm>
            <a:off x="590882" y="4487435"/>
            <a:ext cx="58047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Two CAN controllers share one bus: the ESP32 (CANopen master, node 1) and the Pi's own MCP2515 (can0). Designators from the v2 PCB.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B465929-4C5A-D87C-0D5A-EA0A9BF81F7B}"/>
              </a:ext>
            </a:extLst>
          </p:cNvPr>
          <p:cNvSpPr/>
          <p:nvPr/>
        </p:nvSpPr>
        <p:spPr>
          <a:xfrm>
            <a:off x="536448" y="994410"/>
            <a:ext cx="1943100" cy="3044190"/>
          </a:xfrm>
          <a:prstGeom prst="roundRect">
            <a:avLst>
              <a:gd name="adj" fmla="val 0"/>
            </a:avLst>
          </a:prstGeom>
          <a:solidFill>
            <a:srgbClr val="F6F8FA"/>
          </a:solidFill>
          <a:ln w="6477" cap="flat">
            <a:solidFill>
              <a:srgbClr val="8C959F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2BE864E-349C-6FBB-E5A0-DC4F0A2F7B54}"/>
              </a:ext>
            </a:extLst>
          </p:cNvPr>
          <p:cNvSpPr txBox="1"/>
          <p:nvPr/>
        </p:nvSpPr>
        <p:spPr>
          <a:xfrm>
            <a:off x="548640" y="1013276"/>
            <a:ext cx="131318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Raspberry Pi 40-pin (J104)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9C1D78-FE4A-2E77-4804-219B38F87278}"/>
              </a:ext>
            </a:extLst>
          </p:cNvPr>
          <p:cNvSpPr txBox="1"/>
          <p:nvPr/>
        </p:nvSpPr>
        <p:spPr>
          <a:xfrm>
            <a:off x="548640" y="1140346"/>
            <a:ext cx="8723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pin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GPIO |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function</a:t>
            </a:r>
            <a:endParaRPr lang="de-DE" sz="600" spc="0" baseline="0" dirty="0">
              <a:ln/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302E7DC-D68E-2932-1213-1F278ABCC8C0}"/>
              </a:ext>
            </a:extLst>
          </p:cNvPr>
          <p:cNvSpPr txBox="1"/>
          <p:nvPr/>
        </p:nvSpPr>
        <p:spPr>
          <a:xfrm>
            <a:off x="548640" y="1311218"/>
            <a:ext cx="4154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8 | 10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6076314-1884-3B76-AE5B-60139C0029FD}"/>
              </a:ext>
            </a:extLst>
          </p:cNvPr>
          <p:cNvSpPr txBox="1"/>
          <p:nvPr/>
        </p:nvSpPr>
        <p:spPr>
          <a:xfrm>
            <a:off x="1053846" y="1314713"/>
            <a:ext cx="13276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GPIO14 TXD | GPIO15 RXD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4A9B829-0612-E948-E36F-F8BDB5C28B14}"/>
              </a:ext>
            </a:extLst>
          </p:cNvPr>
          <p:cNvSpPr txBox="1"/>
          <p:nvPr/>
        </p:nvSpPr>
        <p:spPr>
          <a:xfrm>
            <a:off x="1053846" y="1431811"/>
            <a:ext cx="14510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UART to ESP32 (parallel to CP2102)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5D47E3F-5C72-FDC1-73FB-71B276A5926F}"/>
              </a:ext>
            </a:extLst>
          </p:cNvPr>
          <p:cNvSpPr txBox="1"/>
          <p:nvPr/>
        </p:nvSpPr>
        <p:spPr>
          <a:xfrm>
            <a:off x="548640" y="1673930"/>
            <a:ext cx="4667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11 | 36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1320204-6A9B-171C-BD26-C0C310992A78}"/>
              </a:ext>
            </a:extLst>
          </p:cNvPr>
          <p:cNvSpPr txBox="1"/>
          <p:nvPr/>
        </p:nvSpPr>
        <p:spPr>
          <a:xfrm>
            <a:off x="1053846" y="1677425"/>
            <a:ext cx="9108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GPIO17 | GPIO16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299C5BE-3436-B6CE-4ABE-D0F8CD5C26C4}"/>
              </a:ext>
            </a:extLst>
          </p:cNvPr>
          <p:cNvSpPr txBox="1"/>
          <p:nvPr/>
        </p:nvSpPr>
        <p:spPr>
          <a:xfrm>
            <a:off x="1053846" y="1794523"/>
            <a:ext cx="14879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RTS / DTR auto-program (JP901/902)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4BF1098-866A-206F-E369-5F67FB225C27}"/>
              </a:ext>
            </a:extLst>
          </p:cNvPr>
          <p:cNvSpPr txBox="1"/>
          <p:nvPr/>
        </p:nvSpPr>
        <p:spPr>
          <a:xfrm>
            <a:off x="548640" y="2127320"/>
            <a:ext cx="6671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7A4FB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19 21 23 24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E754E5-46FB-E88C-681C-F76DD5021E88}"/>
              </a:ext>
            </a:extLst>
          </p:cNvPr>
          <p:cNvSpPr txBox="1"/>
          <p:nvPr/>
        </p:nvSpPr>
        <p:spPr>
          <a:xfrm>
            <a:off x="1053846" y="2130815"/>
            <a:ext cx="134844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SPI0 MOSI MISO SCLK CE0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B481776-8671-15A6-EDC6-F38854130F8C}"/>
              </a:ext>
            </a:extLst>
          </p:cNvPr>
          <p:cNvSpPr txBox="1"/>
          <p:nvPr/>
        </p:nvSpPr>
        <p:spPr>
          <a:xfrm>
            <a:off x="1053846" y="2247913"/>
            <a:ext cx="6142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to MCP2515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F66D0CA-EC9F-3FFF-8A87-F0E3A8E88E75}"/>
              </a:ext>
            </a:extLst>
          </p:cNvPr>
          <p:cNvSpPr txBox="1"/>
          <p:nvPr/>
        </p:nvSpPr>
        <p:spPr>
          <a:xfrm>
            <a:off x="548640" y="2490032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7A4FB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32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E6FDB0A-897E-73B6-BC0E-7346DDBF114B}"/>
              </a:ext>
            </a:extLst>
          </p:cNvPr>
          <p:cNvSpPr txBox="1"/>
          <p:nvPr/>
        </p:nvSpPr>
        <p:spPr>
          <a:xfrm>
            <a:off x="1053846" y="2493527"/>
            <a:ext cx="5100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GPIO12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31CE3E5-F37B-BC5B-3205-ED82951B6260}"/>
              </a:ext>
            </a:extLst>
          </p:cNvPr>
          <p:cNvSpPr txBox="1"/>
          <p:nvPr/>
        </p:nvSpPr>
        <p:spPr>
          <a:xfrm>
            <a:off x="1053846" y="2610625"/>
            <a:ext cx="8290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MCP2515 interrupt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B12475A-7A15-E0C8-D6A8-7ED1FB758836}"/>
              </a:ext>
            </a:extLst>
          </p:cNvPr>
          <p:cNvSpPr txBox="1"/>
          <p:nvPr/>
        </p:nvSpPr>
        <p:spPr>
          <a:xfrm>
            <a:off x="548640" y="3124778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16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0C473BB-0A44-694F-A6CC-7680B854602B}"/>
              </a:ext>
            </a:extLst>
          </p:cNvPr>
          <p:cNvSpPr txBox="1"/>
          <p:nvPr/>
        </p:nvSpPr>
        <p:spPr>
          <a:xfrm>
            <a:off x="1053846" y="3128273"/>
            <a:ext cx="5100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GPIO23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DBB8FAE-F904-3311-7FD5-E760AC676A1D}"/>
              </a:ext>
            </a:extLst>
          </p:cNvPr>
          <p:cNvSpPr txBox="1"/>
          <p:nvPr/>
        </p:nvSpPr>
        <p:spPr>
          <a:xfrm>
            <a:off x="1053846" y="3245371"/>
            <a:ext cx="10567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bus power off (high = off)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978C442-658F-428D-7129-97E56C87D996}"/>
              </a:ext>
            </a:extLst>
          </p:cNvPr>
          <p:cNvSpPr txBox="1"/>
          <p:nvPr/>
        </p:nvSpPr>
        <p:spPr>
          <a:xfrm>
            <a:off x="548640" y="3513398"/>
            <a:ext cx="3642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3 | 5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E29DC10-41F8-30FC-9798-F8C7C5C24D98}"/>
              </a:ext>
            </a:extLst>
          </p:cNvPr>
          <p:cNvSpPr txBox="1"/>
          <p:nvPr/>
        </p:nvSpPr>
        <p:spPr>
          <a:xfrm>
            <a:off x="1053846" y="3516893"/>
            <a:ext cx="1117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GPIO2 | GPIO3 (I2C-1)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3FEA52D-BC45-7B05-AFCE-BDF10C1FCA36}"/>
              </a:ext>
            </a:extLst>
          </p:cNvPr>
          <p:cNvSpPr txBox="1"/>
          <p:nvPr/>
        </p:nvSpPr>
        <p:spPr>
          <a:xfrm>
            <a:off x="1053846" y="3633991"/>
            <a:ext cx="14782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to on-board I2C via JP101/102 (open)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383E288-604F-7E54-A83F-F17F16931915}"/>
              </a:ext>
            </a:extLst>
          </p:cNvPr>
          <p:cNvSpPr txBox="1"/>
          <p:nvPr/>
        </p:nvSpPr>
        <p:spPr>
          <a:xfrm>
            <a:off x="548640" y="3821824"/>
            <a:ext cx="14830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The HAT also feeds the Pi 5.1 V / 5 A.</a:t>
            </a:r>
          </a:p>
        </p:txBody>
      </p:sp>
      <p:sp>
        <p:nvSpPr>
          <p:cNvPr id="32" name="Abgerundetes Rechteck 31">
            <a:extLst>
              <a:ext uri="{FF2B5EF4-FFF2-40B4-BE49-F238E27FC236}">
                <a16:creationId xmlns:a16="http://schemas.microsoft.com/office/drawing/2014/main" id="{C60287AA-702B-39B5-CF52-C24DCFDDDD3B}"/>
              </a:ext>
            </a:extLst>
          </p:cNvPr>
          <p:cNvSpPr/>
          <p:nvPr/>
        </p:nvSpPr>
        <p:spPr>
          <a:xfrm>
            <a:off x="2842260" y="994410"/>
            <a:ext cx="1489710" cy="284988"/>
          </a:xfrm>
          <a:prstGeom prst="roundRect">
            <a:avLst>
              <a:gd name="adj" fmla="val 0"/>
            </a:avLst>
          </a:prstGeom>
          <a:solidFill>
            <a:srgbClr val="EEF4FB"/>
          </a:solidFill>
          <a:ln w="6477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CCE467B-BE83-4CE0-D09F-41299F05C3B1}"/>
              </a:ext>
            </a:extLst>
          </p:cNvPr>
          <p:cNvSpPr txBox="1"/>
          <p:nvPr/>
        </p:nvSpPr>
        <p:spPr>
          <a:xfrm>
            <a:off x="2960326" y="984386"/>
            <a:ext cx="13901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CP2102 (U701) | USB-C J103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F28DDEB-B8AA-C628-7FA6-2804B966EE28}"/>
              </a:ext>
            </a:extLst>
          </p:cNvPr>
          <p:cNvSpPr txBox="1"/>
          <p:nvPr/>
        </p:nvSpPr>
        <p:spPr>
          <a:xfrm>
            <a:off x="3077457" y="1095007"/>
            <a:ext cx="108715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USB serial to a PC / the Pi</a:t>
            </a:r>
          </a:p>
        </p:txBody>
      </p:sp>
      <p:sp>
        <p:nvSpPr>
          <p:cNvPr id="35" name="Freihandform 34">
            <a:extLst>
              <a:ext uri="{FF2B5EF4-FFF2-40B4-BE49-F238E27FC236}">
                <a16:creationId xmlns:a16="http://schemas.microsoft.com/office/drawing/2014/main" id="{5EC72FAC-0E1E-3CC7-1431-573A6D2CBB24}"/>
              </a:ext>
            </a:extLst>
          </p:cNvPr>
          <p:cNvSpPr/>
          <p:nvPr/>
        </p:nvSpPr>
        <p:spPr>
          <a:xfrm>
            <a:off x="3587115" y="1279398"/>
            <a:ext cx="6477" cy="168402"/>
          </a:xfrm>
          <a:custGeom>
            <a:avLst/>
            <a:gdLst>
              <a:gd name="csX0" fmla="*/ 0 w 6477"/>
              <a:gd name="csY0" fmla="*/ 0 h 168402"/>
              <a:gd name="csX1" fmla="*/ 0 w 6477"/>
              <a:gd name="csY1" fmla="*/ 168402 h 168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168402">
                <a:moveTo>
                  <a:pt x="0" y="0"/>
                </a:moveTo>
                <a:lnTo>
                  <a:pt x="0" y="168402"/>
                </a:lnTo>
              </a:path>
            </a:pathLst>
          </a:custGeom>
          <a:ln w="12954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bgerundetes Rechteck 35">
            <a:extLst>
              <a:ext uri="{FF2B5EF4-FFF2-40B4-BE49-F238E27FC236}">
                <a16:creationId xmlns:a16="http://schemas.microsoft.com/office/drawing/2014/main" id="{31144201-59A2-983D-2838-26658C001011}"/>
              </a:ext>
            </a:extLst>
          </p:cNvPr>
          <p:cNvSpPr/>
          <p:nvPr/>
        </p:nvSpPr>
        <p:spPr>
          <a:xfrm>
            <a:off x="2842260" y="1447800"/>
            <a:ext cx="1489710" cy="89382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477" cap="flat">
            <a:solidFill>
              <a:srgbClr val="1F2328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0A609FCB-BFED-037B-D4A2-452B85E274A3}"/>
              </a:ext>
            </a:extLst>
          </p:cNvPr>
          <p:cNvSpPr txBox="1"/>
          <p:nvPr/>
        </p:nvSpPr>
        <p:spPr>
          <a:xfrm>
            <a:off x="2972126" y="1444253"/>
            <a:ext cx="13436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ESP32-WROOM-32E (U101)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E1BF2B7-BC81-728F-FB89-694BED649036}"/>
              </a:ext>
            </a:extLst>
          </p:cNvPr>
          <p:cNvSpPr txBox="1"/>
          <p:nvPr/>
        </p:nvSpPr>
        <p:spPr>
          <a:xfrm>
            <a:off x="2841498" y="1580782"/>
            <a:ext cx="11400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UART0 | JSON | 921600 </a:t>
            </a:r>
            <a:r>
              <a:rPr lang="de-DE" sz="6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Bd</a:t>
            </a:r>
            <a:endParaRPr lang="de-DE" sz="600" spc="0" baseline="0" dirty="0">
              <a:ln/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953D0D7C-3889-81C7-F679-4C26249D554B}"/>
              </a:ext>
            </a:extLst>
          </p:cNvPr>
          <p:cNvSpPr txBox="1"/>
          <p:nvPr/>
        </p:nvSpPr>
        <p:spPr>
          <a:xfrm>
            <a:off x="2841498" y="1690891"/>
            <a:ext cx="86273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GPIO17 → CAN TX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A4F2EF9-713A-E8E8-C506-BE87E19C3792}"/>
              </a:ext>
            </a:extLst>
          </p:cNvPr>
          <p:cNvSpPr txBox="1"/>
          <p:nvPr/>
        </p:nvSpPr>
        <p:spPr>
          <a:xfrm>
            <a:off x="2841498" y="1801000"/>
            <a:ext cx="8723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GPIO18 ← CAN RX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7783CF61-BE12-85A3-0777-4D8818AD5740}"/>
              </a:ext>
            </a:extLst>
          </p:cNvPr>
          <p:cNvSpPr txBox="1"/>
          <p:nvPr/>
        </p:nvSpPr>
        <p:spPr>
          <a:xfrm>
            <a:off x="2841498" y="1911109"/>
            <a:ext cx="10005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GPIO4 → bus power off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9C300B2-DE09-60E2-1757-1C49E8C2224A}"/>
              </a:ext>
            </a:extLst>
          </p:cNvPr>
          <p:cNvSpPr txBox="1"/>
          <p:nvPr/>
        </p:nvSpPr>
        <p:spPr>
          <a:xfrm>
            <a:off x="2841498" y="202121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GPIO34 ← E-stop sense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08F8F39-26DC-61C6-B7F7-C30C6B4AB924}"/>
              </a:ext>
            </a:extLst>
          </p:cNvPr>
          <p:cNvSpPr txBox="1"/>
          <p:nvPr/>
        </p:nvSpPr>
        <p:spPr>
          <a:xfrm>
            <a:off x="2841498" y="2131327"/>
            <a:ext cx="11528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I2C 21/22: INA226, TMP102</a:t>
            </a:r>
          </a:p>
        </p:txBody>
      </p:sp>
      <p:sp>
        <p:nvSpPr>
          <p:cNvPr id="44" name="Freihandform 43">
            <a:extLst>
              <a:ext uri="{FF2B5EF4-FFF2-40B4-BE49-F238E27FC236}">
                <a16:creationId xmlns:a16="http://schemas.microsoft.com/office/drawing/2014/main" id="{C1970EDA-164D-EA89-0622-A3FE1C27F81F}"/>
              </a:ext>
            </a:extLst>
          </p:cNvPr>
          <p:cNvSpPr/>
          <p:nvPr/>
        </p:nvSpPr>
        <p:spPr>
          <a:xfrm>
            <a:off x="2479548" y="1499616"/>
            <a:ext cx="349758" cy="181356"/>
          </a:xfrm>
          <a:custGeom>
            <a:avLst/>
            <a:gdLst>
              <a:gd name="csX0" fmla="*/ 0 w 349758"/>
              <a:gd name="csY0" fmla="*/ 0 h 181356"/>
              <a:gd name="csX1" fmla="*/ 181356 w 349758"/>
              <a:gd name="csY1" fmla="*/ 0 h 181356"/>
              <a:gd name="csX2" fmla="*/ 181356 w 349758"/>
              <a:gd name="csY2" fmla="*/ 181356 h 181356"/>
              <a:gd name="csX3" fmla="*/ 349758 w 349758"/>
              <a:gd name="csY3" fmla="*/ 181356 h 181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9758" h="181356">
                <a:moveTo>
                  <a:pt x="0" y="0"/>
                </a:moveTo>
                <a:lnTo>
                  <a:pt x="181356" y="0"/>
                </a:lnTo>
                <a:lnTo>
                  <a:pt x="181356" y="181356"/>
                </a:lnTo>
                <a:lnTo>
                  <a:pt x="349758" y="181356"/>
                </a:lnTo>
              </a:path>
            </a:pathLst>
          </a:custGeom>
          <a:noFill/>
          <a:ln w="12954" cap="flat">
            <a:solidFill>
              <a:srgbClr val="3B6EA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Freihandform 44">
            <a:extLst>
              <a:ext uri="{FF2B5EF4-FFF2-40B4-BE49-F238E27FC236}">
                <a16:creationId xmlns:a16="http://schemas.microsoft.com/office/drawing/2014/main" id="{DA0F02DB-FB02-1EB9-884A-372E381A87D9}"/>
              </a:ext>
            </a:extLst>
          </p:cNvPr>
          <p:cNvSpPr/>
          <p:nvPr/>
        </p:nvSpPr>
        <p:spPr>
          <a:xfrm>
            <a:off x="2479548" y="1862328"/>
            <a:ext cx="349758" cy="142494"/>
          </a:xfrm>
          <a:custGeom>
            <a:avLst/>
            <a:gdLst>
              <a:gd name="csX0" fmla="*/ 0 w 349758"/>
              <a:gd name="csY0" fmla="*/ 0 h 142494"/>
              <a:gd name="csX1" fmla="*/ 207264 w 349758"/>
              <a:gd name="csY1" fmla="*/ 0 h 142494"/>
              <a:gd name="csX2" fmla="*/ 207264 w 349758"/>
              <a:gd name="csY2" fmla="*/ 142494 h 142494"/>
              <a:gd name="csX3" fmla="*/ 349758 w 349758"/>
              <a:gd name="csY3" fmla="*/ 142494 h 142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9758" h="142494">
                <a:moveTo>
                  <a:pt x="0" y="0"/>
                </a:moveTo>
                <a:lnTo>
                  <a:pt x="207264" y="0"/>
                </a:lnTo>
                <a:lnTo>
                  <a:pt x="207264" y="142494"/>
                </a:lnTo>
                <a:lnTo>
                  <a:pt x="349758" y="142494"/>
                </a:lnTo>
              </a:path>
            </a:pathLst>
          </a:custGeom>
          <a:noFill/>
          <a:ln w="10363" cap="flat">
            <a:solidFill>
              <a:srgbClr val="3B6EA5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AAED1759-5084-7554-5755-76CA19E29899}"/>
              </a:ext>
            </a:extLst>
          </p:cNvPr>
          <p:cNvSpPr txBox="1"/>
          <p:nvPr/>
        </p:nvSpPr>
        <p:spPr>
          <a:xfrm>
            <a:off x="2426970" y="1976391"/>
            <a:ext cx="39145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500" spc="0" baseline="0">
                <a:ln/>
                <a:solidFill>
                  <a:srgbClr val="3B6EA5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EN/IO0</a:t>
            </a:r>
          </a:p>
        </p:txBody>
      </p:sp>
      <p:sp>
        <p:nvSpPr>
          <p:cNvPr id="47" name="Abgerundetes Rechteck 46">
            <a:extLst>
              <a:ext uri="{FF2B5EF4-FFF2-40B4-BE49-F238E27FC236}">
                <a16:creationId xmlns:a16="http://schemas.microsoft.com/office/drawing/2014/main" id="{946032CC-8BED-92B3-D76F-9C330C900A08}"/>
              </a:ext>
            </a:extLst>
          </p:cNvPr>
          <p:cNvSpPr/>
          <p:nvPr/>
        </p:nvSpPr>
        <p:spPr>
          <a:xfrm>
            <a:off x="2842260" y="2458212"/>
            <a:ext cx="1489710" cy="4533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477" cap="flat">
            <a:solidFill>
              <a:srgbClr val="1F2328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5115B260-4823-C404-BC4C-C221C016CD6B}"/>
              </a:ext>
            </a:extLst>
          </p:cNvPr>
          <p:cNvSpPr txBox="1"/>
          <p:nvPr/>
        </p:nvSpPr>
        <p:spPr>
          <a:xfrm>
            <a:off x="3173485" y="2454665"/>
            <a:ext cx="8963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MCP2515 (U901)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12789B8-81D3-74B8-28AC-8B66BCBBD67B}"/>
              </a:ext>
            </a:extLst>
          </p:cNvPr>
          <p:cNvSpPr txBox="1"/>
          <p:nvPr/>
        </p:nvSpPr>
        <p:spPr>
          <a:xfrm>
            <a:off x="2922776" y="2578240"/>
            <a:ext cx="14125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SPI CAN </a:t>
            </a:r>
            <a:r>
              <a:rPr lang="de-DE" sz="600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controller</a:t>
            </a:r>
            <a:r>
              <a:rPr lang="de-DE" sz="600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| 12 MHz (Y901)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FEFCBAA4-6590-7C16-B516-ACC17A23F8F6}"/>
              </a:ext>
            </a:extLst>
          </p:cNvPr>
          <p:cNvSpPr txBox="1"/>
          <p:nvPr/>
        </p:nvSpPr>
        <p:spPr>
          <a:xfrm>
            <a:off x="2889807" y="2694826"/>
            <a:ext cx="14830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Linux: mcp2515-can0 overlay → can0</a:t>
            </a:r>
          </a:p>
        </p:txBody>
      </p:sp>
      <p:sp>
        <p:nvSpPr>
          <p:cNvPr id="51" name="Freihandform 50">
            <a:extLst>
              <a:ext uri="{FF2B5EF4-FFF2-40B4-BE49-F238E27FC236}">
                <a16:creationId xmlns:a16="http://schemas.microsoft.com/office/drawing/2014/main" id="{95133AD5-E8E7-1982-F05D-BF22711C2BDE}"/>
              </a:ext>
            </a:extLst>
          </p:cNvPr>
          <p:cNvSpPr/>
          <p:nvPr/>
        </p:nvSpPr>
        <p:spPr>
          <a:xfrm>
            <a:off x="2479548" y="2315718"/>
            <a:ext cx="349758" cy="259080"/>
          </a:xfrm>
          <a:custGeom>
            <a:avLst/>
            <a:gdLst>
              <a:gd name="csX0" fmla="*/ 0 w 349758"/>
              <a:gd name="csY0" fmla="*/ 0 h 259080"/>
              <a:gd name="csX1" fmla="*/ 233172 w 349758"/>
              <a:gd name="csY1" fmla="*/ 0 h 259080"/>
              <a:gd name="csX2" fmla="*/ 233172 w 349758"/>
              <a:gd name="csY2" fmla="*/ 259080 h 259080"/>
              <a:gd name="csX3" fmla="*/ 349758 w 349758"/>
              <a:gd name="csY3" fmla="*/ 259080 h 259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9758" h="259080">
                <a:moveTo>
                  <a:pt x="0" y="0"/>
                </a:moveTo>
                <a:lnTo>
                  <a:pt x="233172" y="0"/>
                </a:lnTo>
                <a:lnTo>
                  <a:pt x="233172" y="259080"/>
                </a:lnTo>
                <a:lnTo>
                  <a:pt x="349758" y="259080"/>
                </a:lnTo>
              </a:path>
            </a:pathLst>
          </a:custGeom>
          <a:noFill/>
          <a:ln w="12954" cap="flat">
            <a:solidFill>
              <a:srgbClr val="7A4FB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Freihandform 51">
            <a:extLst>
              <a:ext uri="{FF2B5EF4-FFF2-40B4-BE49-F238E27FC236}">
                <a16:creationId xmlns:a16="http://schemas.microsoft.com/office/drawing/2014/main" id="{C99F20FB-5216-4A26-07A4-324C46716CD7}"/>
              </a:ext>
            </a:extLst>
          </p:cNvPr>
          <p:cNvSpPr/>
          <p:nvPr/>
        </p:nvSpPr>
        <p:spPr>
          <a:xfrm>
            <a:off x="2492502" y="2678430"/>
            <a:ext cx="349758" cy="116586"/>
          </a:xfrm>
          <a:custGeom>
            <a:avLst/>
            <a:gdLst>
              <a:gd name="csX0" fmla="*/ 349758 w 349758"/>
              <a:gd name="csY0" fmla="*/ 116586 h 116586"/>
              <a:gd name="csX1" fmla="*/ 116586 w 349758"/>
              <a:gd name="csY1" fmla="*/ 116586 h 116586"/>
              <a:gd name="csX2" fmla="*/ 116586 w 349758"/>
              <a:gd name="csY2" fmla="*/ 0 h 116586"/>
              <a:gd name="csX3" fmla="*/ 0 w 349758"/>
              <a:gd name="csY3" fmla="*/ 0 h 1165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9758" h="116586">
                <a:moveTo>
                  <a:pt x="349758" y="116586"/>
                </a:moveTo>
                <a:lnTo>
                  <a:pt x="116586" y="116586"/>
                </a:lnTo>
                <a:lnTo>
                  <a:pt x="116586" y="0"/>
                </a:lnTo>
                <a:lnTo>
                  <a:pt x="0" y="0"/>
                </a:lnTo>
              </a:path>
            </a:pathLst>
          </a:custGeom>
          <a:noFill/>
          <a:ln w="12954" cap="flat">
            <a:solidFill>
              <a:srgbClr val="7A4FB5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Abgerundetes Rechteck 52">
            <a:extLst>
              <a:ext uri="{FF2B5EF4-FFF2-40B4-BE49-F238E27FC236}">
                <a16:creationId xmlns:a16="http://schemas.microsoft.com/office/drawing/2014/main" id="{EE5CB721-9370-D9DE-E356-A4FC8D235EF0}"/>
              </a:ext>
            </a:extLst>
          </p:cNvPr>
          <p:cNvSpPr/>
          <p:nvPr/>
        </p:nvSpPr>
        <p:spPr>
          <a:xfrm>
            <a:off x="4655820" y="1693926"/>
            <a:ext cx="1036320" cy="323850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C66B78C4-A258-F277-080D-1CD80754ED61}"/>
              </a:ext>
            </a:extLst>
          </p:cNvPr>
          <p:cNvSpPr txBox="1"/>
          <p:nvPr/>
        </p:nvSpPr>
        <p:spPr>
          <a:xfrm>
            <a:off x="4823582" y="1690379"/>
            <a:ext cx="7553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SN65HVD230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57E2F0C5-6E88-8A68-D305-E7E2F46243AC}"/>
              </a:ext>
            </a:extLst>
          </p:cNvPr>
          <p:cNvSpPr txBox="1"/>
          <p:nvPr/>
        </p:nvSpPr>
        <p:spPr>
          <a:xfrm>
            <a:off x="4772104" y="1807477"/>
            <a:ext cx="8787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U1101 | ESP32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side</a:t>
            </a:r>
            <a:endParaRPr lang="de-DE" sz="600" spc="0" baseline="0" dirty="0">
              <a:ln/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56" name="Freihandform 55">
            <a:extLst>
              <a:ext uri="{FF2B5EF4-FFF2-40B4-BE49-F238E27FC236}">
                <a16:creationId xmlns:a16="http://schemas.microsoft.com/office/drawing/2014/main" id="{2CFA96ED-6AA4-240B-5967-9B33162E003E}"/>
              </a:ext>
            </a:extLst>
          </p:cNvPr>
          <p:cNvSpPr/>
          <p:nvPr/>
        </p:nvSpPr>
        <p:spPr>
          <a:xfrm>
            <a:off x="4331970" y="1804035"/>
            <a:ext cx="323850" cy="6477"/>
          </a:xfrm>
          <a:custGeom>
            <a:avLst/>
            <a:gdLst>
              <a:gd name="csX0" fmla="*/ 0 w 323850"/>
              <a:gd name="csY0" fmla="*/ 0 h 6477"/>
              <a:gd name="csX1" fmla="*/ 323850 w 32385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3850" h="6477">
                <a:moveTo>
                  <a:pt x="0" y="0"/>
                </a:moveTo>
                <a:lnTo>
                  <a:pt x="323850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Freihandform 56">
            <a:extLst>
              <a:ext uri="{FF2B5EF4-FFF2-40B4-BE49-F238E27FC236}">
                <a16:creationId xmlns:a16="http://schemas.microsoft.com/office/drawing/2014/main" id="{2703BDEC-221C-0ABD-132E-5756EE318F97}"/>
              </a:ext>
            </a:extLst>
          </p:cNvPr>
          <p:cNvSpPr/>
          <p:nvPr/>
        </p:nvSpPr>
        <p:spPr>
          <a:xfrm>
            <a:off x="4331970" y="1907667"/>
            <a:ext cx="323850" cy="6477"/>
          </a:xfrm>
          <a:custGeom>
            <a:avLst/>
            <a:gdLst>
              <a:gd name="csX0" fmla="*/ 0 w 323850"/>
              <a:gd name="csY0" fmla="*/ 0 h 6477"/>
              <a:gd name="csX1" fmla="*/ 323850 w 32385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3850" h="6477">
                <a:moveTo>
                  <a:pt x="0" y="0"/>
                </a:moveTo>
                <a:lnTo>
                  <a:pt x="323850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14CC8B9D-2B1A-6D58-B0C0-F46802C5F723}"/>
              </a:ext>
            </a:extLst>
          </p:cNvPr>
          <p:cNvSpPr txBox="1"/>
          <p:nvPr/>
        </p:nvSpPr>
        <p:spPr>
          <a:xfrm>
            <a:off x="4279392" y="1652541"/>
            <a:ext cx="33695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500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TX17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F1F6F3B6-E1AA-E4BA-F95C-3AA2364B8984}"/>
              </a:ext>
            </a:extLst>
          </p:cNvPr>
          <p:cNvSpPr txBox="1"/>
          <p:nvPr/>
        </p:nvSpPr>
        <p:spPr>
          <a:xfrm>
            <a:off x="4279392" y="1872759"/>
            <a:ext cx="3449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500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RX18</a:t>
            </a:r>
          </a:p>
        </p:txBody>
      </p:sp>
      <p:sp>
        <p:nvSpPr>
          <p:cNvPr id="60" name="Abgerundetes Rechteck 59">
            <a:extLst>
              <a:ext uri="{FF2B5EF4-FFF2-40B4-BE49-F238E27FC236}">
                <a16:creationId xmlns:a16="http://schemas.microsoft.com/office/drawing/2014/main" id="{DD42C797-2B83-2A15-6484-C72FB4EE6274}"/>
              </a:ext>
            </a:extLst>
          </p:cNvPr>
          <p:cNvSpPr/>
          <p:nvPr/>
        </p:nvSpPr>
        <p:spPr>
          <a:xfrm>
            <a:off x="4655820" y="2522982"/>
            <a:ext cx="1036320" cy="323850"/>
          </a:xfrm>
          <a:prstGeom prst="roundRect">
            <a:avLst>
              <a:gd name="adj" fmla="val 0"/>
            </a:avLst>
          </a:prstGeom>
          <a:solidFill>
            <a:srgbClr val="EAF6EE"/>
          </a:solidFill>
          <a:ln w="6477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081288A-25A5-87BD-19E7-9667F7743D00}"/>
              </a:ext>
            </a:extLst>
          </p:cNvPr>
          <p:cNvSpPr txBox="1"/>
          <p:nvPr/>
        </p:nvSpPr>
        <p:spPr>
          <a:xfrm>
            <a:off x="4823582" y="2519435"/>
            <a:ext cx="7553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SN65HVD230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E697C0D-E784-6F7D-C21B-89CDC0B36FDF}"/>
              </a:ext>
            </a:extLst>
          </p:cNvPr>
          <p:cNvSpPr txBox="1"/>
          <p:nvPr/>
        </p:nvSpPr>
        <p:spPr>
          <a:xfrm>
            <a:off x="4841862" y="2636533"/>
            <a:ext cx="7072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U1001 | Pi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side</a:t>
            </a:r>
            <a:endParaRPr lang="de-DE" sz="600" spc="0" baseline="0" dirty="0">
              <a:ln/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  <a:sym typeface="Segoe UI"/>
              <a:rtl val="0"/>
            </a:endParaRPr>
          </a:p>
        </p:txBody>
      </p:sp>
      <p:sp>
        <p:nvSpPr>
          <p:cNvPr id="63" name="Freihandform 62">
            <a:extLst>
              <a:ext uri="{FF2B5EF4-FFF2-40B4-BE49-F238E27FC236}">
                <a16:creationId xmlns:a16="http://schemas.microsoft.com/office/drawing/2014/main" id="{648252B9-5C0E-4B6A-F96F-0EC114699EDF}"/>
              </a:ext>
            </a:extLst>
          </p:cNvPr>
          <p:cNvSpPr/>
          <p:nvPr/>
        </p:nvSpPr>
        <p:spPr>
          <a:xfrm>
            <a:off x="4331970" y="2633091"/>
            <a:ext cx="323850" cy="6477"/>
          </a:xfrm>
          <a:custGeom>
            <a:avLst/>
            <a:gdLst>
              <a:gd name="csX0" fmla="*/ 0 w 323850"/>
              <a:gd name="csY0" fmla="*/ 0 h 6477"/>
              <a:gd name="csX1" fmla="*/ 323850 w 32385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3850" h="6477">
                <a:moveTo>
                  <a:pt x="0" y="0"/>
                </a:moveTo>
                <a:lnTo>
                  <a:pt x="323850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Freihandform 63">
            <a:extLst>
              <a:ext uri="{FF2B5EF4-FFF2-40B4-BE49-F238E27FC236}">
                <a16:creationId xmlns:a16="http://schemas.microsoft.com/office/drawing/2014/main" id="{36EE02BB-B499-1F3E-2AD7-D59EFE03DF4E}"/>
              </a:ext>
            </a:extLst>
          </p:cNvPr>
          <p:cNvSpPr/>
          <p:nvPr/>
        </p:nvSpPr>
        <p:spPr>
          <a:xfrm>
            <a:off x="4331970" y="2736723"/>
            <a:ext cx="323850" cy="6477"/>
          </a:xfrm>
          <a:custGeom>
            <a:avLst/>
            <a:gdLst>
              <a:gd name="csX0" fmla="*/ 0 w 323850"/>
              <a:gd name="csY0" fmla="*/ 0 h 6477"/>
              <a:gd name="csX1" fmla="*/ 323850 w 32385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3850" h="6477">
                <a:moveTo>
                  <a:pt x="0" y="0"/>
                </a:moveTo>
                <a:lnTo>
                  <a:pt x="323850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Freihandform 64">
            <a:extLst>
              <a:ext uri="{FF2B5EF4-FFF2-40B4-BE49-F238E27FC236}">
                <a16:creationId xmlns:a16="http://schemas.microsoft.com/office/drawing/2014/main" id="{721A7336-8243-5E63-7484-CEA9FB4F76EB}"/>
              </a:ext>
            </a:extLst>
          </p:cNvPr>
          <p:cNvSpPr/>
          <p:nvPr/>
        </p:nvSpPr>
        <p:spPr>
          <a:xfrm>
            <a:off x="6028944" y="1447800"/>
            <a:ext cx="6477" cy="2266950"/>
          </a:xfrm>
          <a:custGeom>
            <a:avLst/>
            <a:gdLst>
              <a:gd name="csX0" fmla="*/ 0 w 6477"/>
              <a:gd name="csY0" fmla="*/ 0 h 2266950"/>
              <a:gd name="csX1" fmla="*/ 0 w 6477"/>
              <a:gd name="csY1" fmla="*/ 2266950 h 2266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2266950">
                <a:moveTo>
                  <a:pt x="0" y="0"/>
                </a:moveTo>
                <a:lnTo>
                  <a:pt x="0" y="2266950"/>
                </a:lnTo>
              </a:path>
            </a:pathLst>
          </a:custGeom>
          <a:ln w="16840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ihandform 65">
            <a:extLst>
              <a:ext uri="{FF2B5EF4-FFF2-40B4-BE49-F238E27FC236}">
                <a16:creationId xmlns:a16="http://schemas.microsoft.com/office/drawing/2014/main" id="{D194BCC2-1C8A-6415-5A34-9163CBEA88E2}"/>
              </a:ext>
            </a:extLst>
          </p:cNvPr>
          <p:cNvSpPr/>
          <p:nvPr/>
        </p:nvSpPr>
        <p:spPr>
          <a:xfrm>
            <a:off x="6145530" y="1447800"/>
            <a:ext cx="6477" cy="2266950"/>
          </a:xfrm>
          <a:custGeom>
            <a:avLst/>
            <a:gdLst>
              <a:gd name="csX0" fmla="*/ 0 w 6477"/>
              <a:gd name="csY0" fmla="*/ 0 h 2266950"/>
              <a:gd name="csX1" fmla="*/ 0 w 6477"/>
              <a:gd name="csY1" fmla="*/ 2266950 h 2266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" h="2266950">
                <a:moveTo>
                  <a:pt x="0" y="0"/>
                </a:moveTo>
                <a:lnTo>
                  <a:pt x="0" y="2266950"/>
                </a:lnTo>
              </a:path>
            </a:pathLst>
          </a:custGeom>
          <a:ln w="16840" cap="flat">
            <a:solidFill>
              <a:srgbClr val="1E8E4A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95EAFDC8-4928-A843-4568-A12EC22E1FD8}"/>
              </a:ext>
            </a:extLst>
          </p:cNvPr>
          <p:cNvSpPr txBox="1"/>
          <p:nvPr/>
        </p:nvSpPr>
        <p:spPr>
          <a:xfrm>
            <a:off x="5640009" y="1269886"/>
            <a:ext cx="45236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CAN_H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9DC216F8-F6B3-AFD0-B60B-1D240ED847DC}"/>
              </a:ext>
            </a:extLst>
          </p:cNvPr>
          <p:cNvSpPr txBox="1"/>
          <p:nvPr/>
        </p:nvSpPr>
        <p:spPr>
          <a:xfrm>
            <a:off x="6105906" y="1269886"/>
            <a:ext cx="44275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b="1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CAN_L</a:t>
            </a:r>
          </a:p>
        </p:txBody>
      </p:sp>
      <p:sp>
        <p:nvSpPr>
          <p:cNvPr id="69" name="Freihandform 68">
            <a:extLst>
              <a:ext uri="{FF2B5EF4-FFF2-40B4-BE49-F238E27FC236}">
                <a16:creationId xmlns:a16="http://schemas.microsoft.com/office/drawing/2014/main" id="{43B38FD9-49A7-1B8C-BFB2-4952B5193977}"/>
              </a:ext>
            </a:extLst>
          </p:cNvPr>
          <p:cNvSpPr/>
          <p:nvPr/>
        </p:nvSpPr>
        <p:spPr>
          <a:xfrm>
            <a:off x="5692140" y="1804035"/>
            <a:ext cx="336804" cy="6477"/>
          </a:xfrm>
          <a:custGeom>
            <a:avLst/>
            <a:gdLst>
              <a:gd name="csX0" fmla="*/ 0 w 336804"/>
              <a:gd name="csY0" fmla="*/ 0 h 6477"/>
              <a:gd name="csX1" fmla="*/ 336804 w 336804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6804" h="6477">
                <a:moveTo>
                  <a:pt x="0" y="0"/>
                </a:moveTo>
                <a:lnTo>
                  <a:pt x="336804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Freihandform 69">
            <a:extLst>
              <a:ext uri="{FF2B5EF4-FFF2-40B4-BE49-F238E27FC236}">
                <a16:creationId xmlns:a16="http://schemas.microsoft.com/office/drawing/2014/main" id="{8BB6FCF9-6EA9-5EAE-04FF-CF682FDFFEF7}"/>
              </a:ext>
            </a:extLst>
          </p:cNvPr>
          <p:cNvSpPr/>
          <p:nvPr/>
        </p:nvSpPr>
        <p:spPr>
          <a:xfrm>
            <a:off x="5692140" y="1907667"/>
            <a:ext cx="453390" cy="6477"/>
          </a:xfrm>
          <a:custGeom>
            <a:avLst/>
            <a:gdLst>
              <a:gd name="csX0" fmla="*/ 0 w 453390"/>
              <a:gd name="csY0" fmla="*/ 0 h 6477"/>
              <a:gd name="csX1" fmla="*/ 453390 w 45339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3390" h="6477">
                <a:moveTo>
                  <a:pt x="0" y="0"/>
                </a:moveTo>
                <a:lnTo>
                  <a:pt x="453390" y="0"/>
                </a:lnTo>
              </a:path>
            </a:pathLst>
          </a:custGeom>
          <a:ln w="10363" cap="flat">
            <a:solidFill>
              <a:srgbClr val="1E8E4A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Freihandform 70">
            <a:extLst>
              <a:ext uri="{FF2B5EF4-FFF2-40B4-BE49-F238E27FC236}">
                <a16:creationId xmlns:a16="http://schemas.microsoft.com/office/drawing/2014/main" id="{521FE68E-DF01-B86F-9CA6-2273C0EFDB1A}"/>
              </a:ext>
            </a:extLst>
          </p:cNvPr>
          <p:cNvSpPr/>
          <p:nvPr/>
        </p:nvSpPr>
        <p:spPr>
          <a:xfrm>
            <a:off x="5692140" y="2633091"/>
            <a:ext cx="336804" cy="6477"/>
          </a:xfrm>
          <a:custGeom>
            <a:avLst/>
            <a:gdLst>
              <a:gd name="csX0" fmla="*/ 0 w 336804"/>
              <a:gd name="csY0" fmla="*/ 0 h 6477"/>
              <a:gd name="csX1" fmla="*/ 336804 w 336804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6804" h="6477">
                <a:moveTo>
                  <a:pt x="0" y="0"/>
                </a:moveTo>
                <a:lnTo>
                  <a:pt x="336804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Freihandform 71">
            <a:extLst>
              <a:ext uri="{FF2B5EF4-FFF2-40B4-BE49-F238E27FC236}">
                <a16:creationId xmlns:a16="http://schemas.microsoft.com/office/drawing/2014/main" id="{FBB71E46-47B3-9253-90D5-DDB24B7E47D9}"/>
              </a:ext>
            </a:extLst>
          </p:cNvPr>
          <p:cNvSpPr/>
          <p:nvPr/>
        </p:nvSpPr>
        <p:spPr>
          <a:xfrm>
            <a:off x="5692140" y="2736723"/>
            <a:ext cx="453390" cy="6477"/>
          </a:xfrm>
          <a:custGeom>
            <a:avLst/>
            <a:gdLst>
              <a:gd name="csX0" fmla="*/ 0 w 453390"/>
              <a:gd name="csY0" fmla="*/ 0 h 6477"/>
              <a:gd name="csX1" fmla="*/ 453390 w 45339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3390" h="6477">
                <a:moveTo>
                  <a:pt x="0" y="0"/>
                </a:moveTo>
                <a:lnTo>
                  <a:pt x="453390" y="0"/>
                </a:lnTo>
              </a:path>
            </a:pathLst>
          </a:custGeom>
          <a:ln w="10363" cap="flat">
            <a:solidFill>
              <a:srgbClr val="1E8E4A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E436FB7-C88C-0220-3DD8-D07A5B16E863}"/>
              </a:ext>
            </a:extLst>
          </p:cNvPr>
          <p:cNvSpPr/>
          <p:nvPr/>
        </p:nvSpPr>
        <p:spPr>
          <a:xfrm>
            <a:off x="6009513" y="1784604"/>
            <a:ext cx="38862" cy="38862"/>
          </a:xfrm>
          <a:prstGeom prst="ellipse">
            <a:avLst/>
          </a:prstGeom>
          <a:solidFill>
            <a:srgbClr val="1E8E4A"/>
          </a:solidFill>
          <a:ln w="6477" cap="flat">
            <a:noFill/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C31817D-C01A-A973-51C5-3996C8774D3C}"/>
              </a:ext>
            </a:extLst>
          </p:cNvPr>
          <p:cNvSpPr/>
          <p:nvPr/>
        </p:nvSpPr>
        <p:spPr>
          <a:xfrm>
            <a:off x="6126099" y="1888236"/>
            <a:ext cx="38862" cy="38862"/>
          </a:xfrm>
          <a:prstGeom prst="ellipse">
            <a:avLst/>
          </a:prstGeom>
          <a:solidFill>
            <a:srgbClr val="1E8E4A"/>
          </a:solidFill>
          <a:ln w="6477" cap="flat">
            <a:noFill/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69FE344-D75E-4EEB-E4A8-999097ACC9F3}"/>
              </a:ext>
            </a:extLst>
          </p:cNvPr>
          <p:cNvSpPr/>
          <p:nvPr/>
        </p:nvSpPr>
        <p:spPr>
          <a:xfrm>
            <a:off x="6009513" y="2613660"/>
            <a:ext cx="38862" cy="38862"/>
          </a:xfrm>
          <a:prstGeom prst="ellipse">
            <a:avLst/>
          </a:prstGeom>
          <a:solidFill>
            <a:srgbClr val="1E8E4A"/>
          </a:solidFill>
          <a:ln w="6477" cap="flat">
            <a:noFill/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89D01DF-0634-269A-B00C-9DF56D1B18A8}"/>
              </a:ext>
            </a:extLst>
          </p:cNvPr>
          <p:cNvSpPr/>
          <p:nvPr/>
        </p:nvSpPr>
        <p:spPr>
          <a:xfrm>
            <a:off x="6126099" y="2717292"/>
            <a:ext cx="38862" cy="38862"/>
          </a:xfrm>
          <a:prstGeom prst="ellipse">
            <a:avLst/>
          </a:prstGeom>
          <a:solidFill>
            <a:srgbClr val="1E8E4A"/>
          </a:solidFill>
          <a:ln w="6477" cap="flat">
            <a:noFill/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Abgerundetes Rechteck 82">
            <a:extLst>
              <a:ext uri="{FF2B5EF4-FFF2-40B4-BE49-F238E27FC236}">
                <a16:creationId xmlns:a16="http://schemas.microsoft.com/office/drawing/2014/main" id="{80B6C0A8-F040-40B7-CE39-FF31A076A780}"/>
              </a:ext>
            </a:extLst>
          </p:cNvPr>
          <p:cNvSpPr/>
          <p:nvPr/>
        </p:nvSpPr>
        <p:spPr>
          <a:xfrm>
            <a:off x="6404610" y="1447800"/>
            <a:ext cx="1295400" cy="8549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477" cap="flat">
            <a:solidFill>
              <a:srgbClr val="1F2328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556B0700-B1DF-588A-67EE-E6906514461E}"/>
              </a:ext>
            </a:extLst>
          </p:cNvPr>
          <p:cNvSpPr txBox="1"/>
          <p:nvPr/>
        </p:nvSpPr>
        <p:spPr>
          <a:xfrm>
            <a:off x="6403848" y="1444253"/>
            <a:ext cx="12538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J102 | JST-XH 4 | </a:t>
            </a:r>
            <a:r>
              <a:rPr lang="de-DE" sz="700" b="1" spc="0" baseline="0" dirty="0" err="1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bus</a:t>
            </a:r>
            <a:r>
              <a:rPr lang="de-DE" sz="700" b="1" spc="0" baseline="0" dirty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out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CFAB9520-CDF1-CA10-C7BD-33490F321D14}"/>
              </a:ext>
            </a:extLst>
          </p:cNvPr>
          <p:cNvSpPr txBox="1"/>
          <p:nvPr/>
        </p:nvSpPr>
        <p:spPr>
          <a:xfrm>
            <a:off x="6403848" y="1603195"/>
            <a:ext cx="4203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 GND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370A2FB-F5F7-C12C-A36A-07C322467310}"/>
              </a:ext>
            </a:extLst>
          </p:cNvPr>
          <p:cNvSpPr txBox="1"/>
          <p:nvPr/>
        </p:nvSpPr>
        <p:spPr>
          <a:xfrm>
            <a:off x="6403848" y="1745689"/>
            <a:ext cx="8258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2 +12 V (switched)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B0FA17B-ED7B-11DF-2B74-A0AAF48F9128}"/>
              </a:ext>
            </a:extLst>
          </p:cNvPr>
          <p:cNvSpPr txBox="1"/>
          <p:nvPr/>
        </p:nvSpPr>
        <p:spPr>
          <a:xfrm>
            <a:off x="6403848" y="1888183"/>
            <a:ext cx="5116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3 CAN_H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C1E36054-39F9-AEE5-2714-F80FBFA265C3}"/>
              </a:ext>
            </a:extLst>
          </p:cNvPr>
          <p:cNvSpPr txBox="1"/>
          <p:nvPr/>
        </p:nvSpPr>
        <p:spPr>
          <a:xfrm>
            <a:off x="6403848" y="2030677"/>
            <a:ext cx="4988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E8E4A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4 CAN_L</a:t>
            </a:r>
          </a:p>
        </p:txBody>
      </p:sp>
      <p:sp>
        <p:nvSpPr>
          <p:cNvPr id="89" name="Freihandform 88">
            <a:extLst>
              <a:ext uri="{FF2B5EF4-FFF2-40B4-BE49-F238E27FC236}">
                <a16:creationId xmlns:a16="http://schemas.microsoft.com/office/drawing/2014/main" id="{943D9C7E-1485-6756-6BE2-47B566B6914E}"/>
              </a:ext>
            </a:extLst>
          </p:cNvPr>
          <p:cNvSpPr/>
          <p:nvPr/>
        </p:nvSpPr>
        <p:spPr>
          <a:xfrm>
            <a:off x="6028944" y="1991868"/>
            <a:ext cx="375666" cy="6477"/>
          </a:xfrm>
          <a:custGeom>
            <a:avLst/>
            <a:gdLst>
              <a:gd name="csX0" fmla="*/ 0 w 375666"/>
              <a:gd name="csY0" fmla="*/ 0 h 6477"/>
              <a:gd name="csX1" fmla="*/ 375666 w 375666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5666" h="6477">
                <a:moveTo>
                  <a:pt x="0" y="0"/>
                </a:moveTo>
                <a:lnTo>
                  <a:pt x="375666" y="0"/>
                </a:lnTo>
              </a:path>
            </a:pathLst>
          </a:custGeom>
          <a:ln w="10363" cap="flat">
            <a:solidFill>
              <a:srgbClr val="1E8E4A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Freihandform 89">
            <a:extLst>
              <a:ext uri="{FF2B5EF4-FFF2-40B4-BE49-F238E27FC236}">
                <a16:creationId xmlns:a16="http://schemas.microsoft.com/office/drawing/2014/main" id="{88F5CFCC-C1C7-C713-B5AE-9D3939737AED}"/>
              </a:ext>
            </a:extLst>
          </p:cNvPr>
          <p:cNvSpPr/>
          <p:nvPr/>
        </p:nvSpPr>
        <p:spPr>
          <a:xfrm>
            <a:off x="6145530" y="2134362"/>
            <a:ext cx="259080" cy="6477"/>
          </a:xfrm>
          <a:custGeom>
            <a:avLst/>
            <a:gdLst>
              <a:gd name="csX0" fmla="*/ 0 w 259080"/>
              <a:gd name="csY0" fmla="*/ 0 h 6477"/>
              <a:gd name="csX1" fmla="*/ 259080 w 259080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59080" h="6477">
                <a:moveTo>
                  <a:pt x="0" y="0"/>
                </a:moveTo>
                <a:lnTo>
                  <a:pt x="259080" y="0"/>
                </a:lnTo>
              </a:path>
            </a:pathLst>
          </a:custGeom>
          <a:ln w="10363" cap="flat">
            <a:solidFill>
              <a:srgbClr val="1E8E4A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3502D8B-1FD0-3059-46E5-6AA0FD79AB1F}"/>
              </a:ext>
            </a:extLst>
          </p:cNvPr>
          <p:cNvSpPr/>
          <p:nvPr/>
        </p:nvSpPr>
        <p:spPr>
          <a:xfrm>
            <a:off x="6009513" y="1972437"/>
            <a:ext cx="38862" cy="38862"/>
          </a:xfrm>
          <a:prstGeom prst="ellipse">
            <a:avLst/>
          </a:prstGeom>
          <a:solidFill>
            <a:srgbClr val="1E8E4A"/>
          </a:solidFill>
          <a:ln w="6477" cap="flat">
            <a:noFill/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9E74C6C-ECB0-E49F-D6AA-E2607F60CBC9}"/>
              </a:ext>
            </a:extLst>
          </p:cNvPr>
          <p:cNvSpPr/>
          <p:nvPr/>
        </p:nvSpPr>
        <p:spPr>
          <a:xfrm>
            <a:off x="6126099" y="2114931"/>
            <a:ext cx="38862" cy="38862"/>
          </a:xfrm>
          <a:prstGeom prst="ellipse">
            <a:avLst/>
          </a:prstGeom>
          <a:solidFill>
            <a:srgbClr val="1E8E4A"/>
          </a:solidFill>
          <a:ln w="6477" cap="flat">
            <a:noFill/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Abgerundetes Rechteck 92">
            <a:extLst>
              <a:ext uri="{FF2B5EF4-FFF2-40B4-BE49-F238E27FC236}">
                <a16:creationId xmlns:a16="http://schemas.microsoft.com/office/drawing/2014/main" id="{ECB88480-5CB0-FBEF-6F41-C0D0831E4E73}"/>
              </a:ext>
            </a:extLst>
          </p:cNvPr>
          <p:cNvSpPr/>
          <p:nvPr/>
        </p:nvSpPr>
        <p:spPr>
          <a:xfrm>
            <a:off x="2842260" y="3131820"/>
            <a:ext cx="1489710" cy="505206"/>
          </a:xfrm>
          <a:prstGeom prst="roundRect">
            <a:avLst>
              <a:gd name="adj" fmla="val 0"/>
            </a:avLst>
          </a:prstGeom>
          <a:solidFill>
            <a:srgbClr val="FDF1EF"/>
          </a:solidFill>
          <a:ln w="6477" cap="flat">
            <a:solidFill>
              <a:srgbClr val="C0392B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A64E650E-2C9D-8A37-FFB3-9439DD6369EC}"/>
              </a:ext>
            </a:extLst>
          </p:cNvPr>
          <p:cNvSpPr txBox="1"/>
          <p:nvPr/>
        </p:nvSpPr>
        <p:spPr>
          <a:xfrm>
            <a:off x="3164155" y="3128273"/>
            <a:ext cx="9492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700" b="1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Bus power switch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DB12FB5C-52FE-3823-BF61-E42CA6F15873}"/>
              </a:ext>
            </a:extLst>
          </p:cNvPr>
          <p:cNvSpPr txBox="1"/>
          <p:nvPr/>
        </p:nvSpPr>
        <p:spPr>
          <a:xfrm>
            <a:off x="3079640" y="3251848"/>
            <a:ext cx="10903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12 V in J101 → J102 pin 2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845A034E-1F31-550D-C734-AE84672F0F6C}"/>
              </a:ext>
            </a:extLst>
          </p:cNvPr>
          <p:cNvSpPr txBox="1"/>
          <p:nvPr/>
        </p:nvSpPr>
        <p:spPr>
          <a:xfrm>
            <a:off x="2883970" y="3361957"/>
            <a:ext cx="15119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off if ESP32 GPIO4 or Pi GPIO23 high,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7CA1DB87-5637-AC78-6188-7A13B71638A4}"/>
              </a:ext>
            </a:extLst>
          </p:cNvPr>
          <p:cNvSpPr txBox="1"/>
          <p:nvPr/>
        </p:nvSpPr>
        <p:spPr>
          <a:xfrm>
            <a:off x="3125229" y="3459112"/>
            <a:ext cx="9669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or E-stop J501 opened</a:t>
            </a:r>
          </a:p>
        </p:txBody>
      </p:sp>
      <p:sp>
        <p:nvSpPr>
          <p:cNvPr id="98" name="Freihandform 97">
            <a:extLst>
              <a:ext uri="{FF2B5EF4-FFF2-40B4-BE49-F238E27FC236}">
                <a16:creationId xmlns:a16="http://schemas.microsoft.com/office/drawing/2014/main" id="{8A7523C3-F222-E5FA-9900-403E608145A0}"/>
              </a:ext>
            </a:extLst>
          </p:cNvPr>
          <p:cNvSpPr/>
          <p:nvPr/>
        </p:nvSpPr>
        <p:spPr>
          <a:xfrm>
            <a:off x="2479548" y="3313176"/>
            <a:ext cx="349758" cy="6477"/>
          </a:xfrm>
          <a:custGeom>
            <a:avLst/>
            <a:gdLst>
              <a:gd name="csX0" fmla="*/ 0 w 349758"/>
              <a:gd name="csY0" fmla="*/ 0 h 6477"/>
              <a:gd name="csX1" fmla="*/ 349758 w 349758"/>
              <a:gd name="csY1" fmla="*/ 0 h 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9758" h="6477">
                <a:moveTo>
                  <a:pt x="0" y="0"/>
                </a:moveTo>
                <a:lnTo>
                  <a:pt x="349758" y="0"/>
                </a:lnTo>
              </a:path>
            </a:pathLst>
          </a:custGeom>
          <a:noFill/>
          <a:ln w="12954" cap="flat">
            <a:solidFill>
              <a:srgbClr val="C0392B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Freihandform 98">
            <a:extLst>
              <a:ext uri="{FF2B5EF4-FFF2-40B4-BE49-F238E27FC236}">
                <a16:creationId xmlns:a16="http://schemas.microsoft.com/office/drawing/2014/main" id="{3EDA6506-D20A-00FD-FCDD-DB031B99837A}"/>
              </a:ext>
            </a:extLst>
          </p:cNvPr>
          <p:cNvSpPr/>
          <p:nvPr/>
        </p:nvSpPr>
        <p:spPr>
          <a:xfrm>
            <a:off x="3587115" y="1849374"/>
            <a:ext cx="4307205" cy="2383536"/>
          </a:xfrm>
          <a:custGeom>
            <a:avLst/>
            <a:gdLst>
              <a:gd name="csX0" fmla="*/ 0 w 4307205"/>
              <a:gd name="csY0" fmla="*/ 1787652 h 2383536"/>
              <a:gd name="csX1" fmla="*/ 0 w 4307205"/>
              <a:gd name="csY1" fmla="*/ 2383536 h 2383536"/>
              <a:gd name="csX2" fmla="*/ 4307205 w 4307205"/>
              <a:gd name="csY2" fmla="*/ 2383536 h 2383536"/>
              <a:gd name="csX3" fmla="*/ 4307205 w 4307205"/>
              <a:gd name="csY3" fmla="*/ 0 h 2383536"/>
              <a:gd name="csX4" fmla="*/ 4125849 w 4307205"/>
              <a:gd name="csY4" fmla="*/ 0 h 2383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07205" h="2383536">
                <a:moveTo>
                  <a:pt x="0" y="1787652"/>
                </a:moveTo>
                <a:lnTo>
                  <a:pt x="0" y="2383536"/>
                </a:lnTo>
                <a:lnTo>
                  <a:pt x="4307205" y="2383536"/>
                </a:lnTo>
                <a:lnTo>
                  <a:pt x="4307205" y="0"/>
                </a:lnTo>
                <a:lnTo>
                  <a:pt x="4125849" y="0"/>
                </a:lnTo>
              </a:path>
            </a:pathLst>
          </a:custGeom>
          <a:noFill/>
          <a:ln w="12954" cap="flat">
            <a:solidFill>
              <a:srgbClr val="C0392B"/>
            </a:solidFill>
            <a:prstDash val="solid"/>
            <a:miter/>
          </a:ln>
        </p:spPr>
        <p:txBody>
          <a:bodyPr/>
          <a:lstStyle/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E12FB28C-92BF-A09A-8A94-71E183D237FF}"/>
              </a:ext>
            </a:extLst>
          </p:cNvPr>
          <p:cNvSpPr txBox="1"/>
          <p:nvPr/>
        </p:nvSpPr>
        <p:spPr>
          <a:xfrm>
            <a:off x="4823460" y="4067950"/>
            <a:ext cx="132600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>
                <a:ln/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+12 V to satellites (JST-XH pin 2)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E71522E3-FD60-95B4-DFB3-617BC2876A99}"/>
              </a:ext>
            </a:extLst>
          </p:cNvPr>
          <p:cNvSpPr txBox="1"/>
          <p:nvPr/>
        </p:nvSpPr>
        <p:spPr>
          <a:xfrm>
            <a:off x="3636690" y="3719711"/>
            <a:ext cx="130195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serial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: /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state_act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{"power":0 </a:t>
            </a:r>
            <a:r>
              <a:rPr lang="de-DE" sz="600" spc="0" baseline="0" dirty="0" err="1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or</a:t>
            </a:r>
            <a:r>
              <a:rPr lang="de-DE" sz="600" spc="0" baseline="0" dirty="0">
                <a:ln/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  <a:sym typeface="Segoe UI"/>
                <a:rtl val="0"/>
              </a:rPr>
              <a:t> 1}</a:t>
            </a:r>
          </a:p>
        </p:txBody>
      </p:sp>
      <p:pic>
        <p:nvPicPr>
          <p:cNvPr id="5" name="Grafik 4" descr="openUC2 - The optical toolbox">
            <a:extLst>
              <a:ext uri="{FF2B5EF4-FFF2-40B4-BE49-F238E27FC236}">
                <a16:creationId xmlns:a16="http://schemas.microsoft.com/office/drawing/2014/main" id="{53438BC9-6651-75F2-6EC8-EC157AEA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657" y="206799"/>
            <a:ext cx="1541071" cy="53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38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Microsoft Macintosh PowerPoint</Application>
  <PresentationFormat>Breitbild</PresentationFormat>
  <Paragraphs>141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 </dc:creator>
  <cp:lastModifiedBy> </cp:lastModifiedBy>
  <cp:revision>1</cp:revision>
  <dcterms:created xsi:type="dcterms:W3CDTF">2026-10-10T19:35:51Z</dcterms:created>
  <dcterms:modified xsi:type="dcterms:W3CDTF">2026-10-10T20:05:15Z</dcterms:modified>
</cp:coreProperties>
</file>